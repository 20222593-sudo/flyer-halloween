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d8c557f0-a811-be85-2d96-1154f2fe3299}">
          <p14:sldIdLst>
            <p14:sldId id="256"/>
            <p14:sldId id="257"/>
            <p14:sldId id="258"/>
          </p14:sldIdLst>
        </p14:section>
        <p14:section name="Resultados" id="{08961afa-7b4f-0f20-4139-261b9a06a606}">
          <p14:sldIdLst>
            <p14:sldId id="259"/>
            <p14:sldId id="260"/>
            <p14:sldId id="261"/>
            <p14:sldId id="262"/>
          </p14:sldIdLst>
        </p14:section>
        <p14:section name="Análisis" id="{03f9f41c-8d8b-9abe-7377-a42d5c1c89c9}">
          <p14:sldIdLst>
            <p14:sldId id="263"/>
            <p14:sldId id="264"/>
            <p14:sldId id="265"/>
            <p14:sldId id="266"/>
            <p14:sldId id="267"/>
          </p14:sldIdLst>
        </p14:section>
        <p14:section name="Cierre" id="{3e10e581-91bd-7dd9-3d4f-77cdba9129d9}">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13A"/>
                </a:solidFill>
                <a:latin typeface="Calibri"/>
              </a:defRPr>
            </a:pPr>
            <a:r>
              <a:rPr sz="1400" b="0" i="0" u="none" strike="noStrike">
                <a:solidFill>
                  <a:srgbClr val="24313A"/>
                </a:solidFill>
                <a:latin typeface="Calibri"/>
              </a:rPr>
              <a:t>Fuentes del estrés (un participante puede tener varias)</a:t>
            </a:r>
          </a:p>
        </c:rich>
      </c:tx>
      <c:layout/>
      <c:overlay val="0"/>
    </c:title>
    <c:autoTitleDeleted val="0"/>
    <c:plotArea>
      <c:layout/>
      <c:barChart>
        <c:barDir val="bar"/>
        <c:grouping val="clustered"/>
        <c:varyColors val="0"/>
        <c:ser>
          <c:idx val="0"/>
          <c:order val="0"/>
          <c:tx>
            <c:strRef>
              <c:f>Sheet1!$B$1</c:f>
              <c:strCache>
                <c:ptCount val="1"/>
                <c:pt idx="0">
                  <c:v>Participantes</c:v>
                </c:pt>
              </c:strCache>
            </c:strRef>
          </c:tx>
          <c:spPr>
            <a:solidFill>
              <a:srgbClr val="D9622B"/>
            </a:solidFill>
            <a:effectLst/>
          </c:spPr>
          <c:invertIfNegative val="0"/>
          <c:dLbls>
            <c:numFmt formatCode="0" sourceLinked="0"/>
            <c:txPr>
              <a:bodyPr/>
              <a:lstStyle/>
              <a:p>
                <a:pPr>
                  <a:defRPr b="1" i="0" strike="noStrike" sz="1400" u="none">
                    <a:solidFill>
                      <a:srgbClr val="3B444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Familiar</c:v>
                  </c:pt>
                  <c:pt idx="1">
                    <c:v>Laboral</c:v>
                  </c:pt>
                  <c:pt idx="2">
                    <c:v>Académica</c:v>
                  </c:pt>
                </c:lvl>
              </c:multiLvlStrCache>
            </c:multiLvlStrRef>
          </c:cat>
          <c:val>
            <c:numRef>
              <c:f>Sheet1!$B$2:$B$4</c:f>
              <c:numCache>
                <c:formatCode>General</c:formatCode>
                <c:ptCount val="3"/>
                <c:pt idx="0">
                  <c:v>2</c:v>
                </c:pt>
                <c:pt idx="1">
                  <c:v>11</c:v>
                </c:pt>
                <c:pt idx="2">
                  <c:v>13</c:v>
                </c:pt>
              </c:numCache>
            </c:numRef>
          </c:val>
        </c:ser>
        <c:dLbls>
          <c:numFmt formatCode="0" sourceLinked="0"/>
          <c:txPr>
            <a:bodyPr/>
            <a:lstStyle/>
            <a:p>
              <a:pPr>
                <a:defRPr b="1" i="0" strike="noStrike" sz="1400" u="none">
                  <a:solidFill>
                    <a:srgbClr val="3B444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3B444C"/>
                </a:solidFill>
                <a:latin typeface="Calibri"/>
              </a:defRPr>
            </a:pPr>
            <a:endParaRPr lang="en-US"/>
          </a:p>
        </c:txPr>
        <c:crossAx val="2094734552"/>
        <c:crosses val="autoZero"/>
        <c:auto val="1"/>
        <c:lblAlgn val="ctr"/>
        <c:noMultiLvlLbl val="1"/>
      </c:catAx>
      <c:valAx>
        <c:axId val="2094734552"/>
        <c:scaling>
          <c:orientation val="minMax"/>
          <c:max val="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13A"/>
                </a:solidFill>
                <a:latin typeface="Calibri"/>
              </a:defRPr>
            </a:pPr>
            <a:r>
              <a:rPr sz="1400" b="0" i="0" u="none" strike="noStrike">
                <a:solidFill>
                  <a:srgbClr val="24313A"/>
                </a:solidFill>
                <a:latin typeface="Calibri"/>
              </a:rPr>
              <a:t>IDH 2024 por distrito (n.º de participantes)</a:t>
            </a:r>
          </a:p>
        </c:rich>
      </c:tx>
      <c:layout/>
      <c:overlay val="0"/>
    </c:title>
    <c:autoTitleDeleted val="0"/>
    <c:plotArea>
      <c:layout/>
      <c:barChart>
        <c:barDir val="bar"/>
        <c:grouping val="stacked"/>
        <c:varyColors val="0"/>
        <c:ser>
          <c:idx val="0"/>
          <c:order val="0"/>
          <c:tx>
            <c:strRef>
              <c:f>Sheet1!$B$1</c:f>
              <c:strCache>
                <c:ptCount val="1"/>
                <c:pt idx="0">
                  <c:v>Alto</c:v>
                </c:pt>
              </c:strCache>
            </c:strRef>
          </c:tx>
          <c:spPr>
            <a:solidFill>
              <a:srgbClr val="2E6E73"/>
            </a:solidFill>
            <a:effectLst/>
          </c:spPr>
          <c:invertIfNegative val="0"/>
          <c:dLbls>
            <c:dLbl>
              <c:idx val="0"/>
              <c:delete val="1"/>
            </c:dLbl>
            <c:dLbl>
              <c:idx val="1"/>
              <c:delete val="1"/>
            </c:dLbl>
            <c:dLbl>
              <c:idx val="2"/>
              <c:delete val="1"/>
            </c:dLbl>
            <c:dLbl>
              <c:idx val="3"/>
              <c:delete val="1"/>
            </c:dLbl>
            <c:dLbl>
              <c:idx val="4"/>
              <c:delete val="1"/>
            </c:dLbl>
            <c:numFmt formatCode="0.000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Sheet1!$A$2:$A$13</c:f>
              <c:multiLvlStrCache>
                <c:ptCount val="12"/>
                <c:lvl>
                  <c:pt idx="0">
                    <c:v>San Juan de Lurigancho (1)</c:v>
                  </c:pt>
                  <c:pt idx="1">
                    <c:v>Ica (1)</c:v>
                  </c:pt>
                  <c:pt idx="2">
                    <c:v>Chorrillos (1)</c:v>
                  </c:pt>
                  <c:pt idx="3">
                    <c:v>Los Olivos (1)</c:v>
                  </c:pt>
                  <c:pt idx="4">
                    <c:v>Barranco (1)</c:v>
                  </c:pt>
                  <c:pt idx="5">
                    <c:v>Magdalena del Mar (1)</c:v>
                  </c:pt>
                  <c:pt idx="6">
                    <c:v>Santiago de Surco (7)</c:v>
                  </c:pt>
                  <c:pt idx="7">
                    <c:v>Jesús María (1)</c:v>
                  </c:pt>
                  <c:pt idx="8">
                    <c:v>La Molina (1)</c:v>
                  </c:pt>
                  <c:pt idx="9">
                    <c:v>San Borja (1)</c:v>
                  </c:pt>
                  <c:pt idx="10">
                    <c:v>Miraflores (2)</c:v>
                  </c:pt>
                  <c:pt idx="11">
                    <c:v>San Isidro (2)</c:v>
                  </c:pt>
                </c:lvl>
              </c:multiLvlStrCache>
            </c:multiLvlStrRef>
          </c:cat>
          <c:val>
            <c:numRef>
              <c:f>Sheet1!$B$2:$B$13</c:f>
              <c:numCache>
                <c:formatCode>General</c:formatCode>
                <c:ptCount val="12"/>
                <c:pt idx="0">
                  <c:v>0</c:v>
                </c:pt>
                <c:pt idx="1">
                  <c:v>0</c:v>
                </c:pt>
                <c:pt idx="2">
                  <c:v>0</c:v>
                </c:pt>
                <c:pt idx="3">
                  <c:v>0</c:v>
                </c:pt>
                <c:pt idx="4">
                  <c:v>0</c:v>
                </c:pt>
                <c:pt idx="5">
                  <c:v>0.8214</c:v>
                </c:pt>
                <c:pt idx="6">
                  <c:v>0.8252</c:v>
                </c:pt>
                <c:pt idx="7">
                  <c:v>0.8321</c:v>
                </c:pt>
                <c:pt idx="8">
                  <c:v>0.8425</c:v>
                </c:pt>
                <c:pt idx="9">
                  <c:v>0.8486</c:v>
                </c:pt>
                <c:pt idx="10">
                  <c:v>0.8522</c:v>
                </c:pt>
                <c:pt idx="11">
                  <c:v>0.8558</c:v>
                </c:pt>
              </c:numCache>
            </c:numRef>
          </c:val>
        </c:ser>
        <c:ser>
          <c:idx val="1"/>
          <c:order val="1"/>
          <c:tx>
            <c:strRef>
              <c:f>Sheet1!$C$1</c:f>
              <c:strCache>
                <c:ptCount val="1"/>
                <c:pt idx="0">
                  <c:v>Mediano Alto</c:v>
                </c:pt>
              </c:strCache>
            </c:strRef>
          </c:tx>
          <c:spPr>
            <a:solidFill>
              <a:srgbClr val="D9622B"/>
            </a:solidFill>
            <a:effectLst/>
          </c:spPr>
          <c:invertIfNegative val="0"/>
          <c:dLbls>
            <c:dLbl>
              <c:idx val="5"/>
              <c:delete val="1"/>
            </c:dLbl>
            <c:dLbl>
              <c:idx val="6"/>
              <c:delete val="1"/>
            </c:dLbl>
            <c:dLbl>
              <c:idx val="7"/>
              <c:delete val="1"/>
            </c:dLbl>
            <c:dLbl>
              <c:idx val="8"/>
              <c:delete val="1"/>
            </c:dLbl>
            <c:dLbl>
              <c:idx val="9"/>
              <c:delete val="1"/>
            </c:dLbl>
            <c:dLbl>
              <c:idx val="10"/>
              <c:delete val="1"/>
            </c:dLbl>
            <c:dLbl>
              <c:idx val="11"/>
              <c:delete val="1"/>
            </c:dLbl>
            <c:numFmt formatCode="0.000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Sheet1!$A$2:$A$13</c:f>
              <c:multiLvlStrCache>
                <c:ptCount val="12"/>
                <c:lvl>
                  <c:pt idx="0">
                    <c:v>San Juan de Lurigancho (1)</c:v>
                  </c:pt>
                  <c:pt idx="1">
                    <c:v>Ica (1)</c:v>
                  </c:pt>
                  <c:pt idx="2">
                    <c:v>Chorrillos (1)</c:v>
                  </c:pt>
                  <c:pt idx="3">
                    <c:v>Los Olivos (1)</c:v>
                  </c:pt>
                  <c:pt idx="4">
                    <c:v>Barranco (1)</c:v>
                  </c:pt>
                  <c:pt idx="5">
                    <c:v>Magdalena del Mar (1)</c:v>
                  </c:pt>
                  <c:pt idx="6">
                    <c:v>Santiago de Surco (7)</c:v>
                  </c:pt>
                  <c:pt idx="7">
                    <c:v>Jesús María (1)</c:v>
                  </c:pt>
                  <c:pt idx="8">
                    <c:v>La Molina (1)</c:v>
                  </c:pt>
                  <c:pt idx="9">
                    <c:v>San Borja (1)</c:v>
                  </c:pt>
                  <c:pt idx="10">
                    <c:v>Miraflores (2)</c:v>
                  </c:pt>
                  <c:pt idx="11">
                    <c:v>San Isidro (2)</c:v>
                  </c:pt>
                </c:lvl>
              </c:multiLvlStrCache>
            </c:multiLvlStrRef>
          </c:cat>
          <c:val>
            <c:numRef>
              <c:f>Sheet1!$C$2:$C$13</c:f>
              <c:numCache>
                <c:formatCode>General</c:formatCode>
                <c:ptCount val="12"/>
                <c:pt idx="0">
                  <c:v>0.7171</c:v>
                </c:pt>
                <c:pt idx="1">
                  <c:v>0.7367</c:v>
                </c:pt>
                <c:pt idx="2">
                  <c:v>0.749</c:v>
                </c:pt>
                <c:pt idx="3">
                  <c:v>0.7645</c:v>
                </c:pt>
                <c:pt idx="4">
                  <c:v>0.7944</c:v>
                </c:pt>
                <c:pt idx="5">
                  <c:v>0</c:v>
                </c:pt>
                <c:pt idx="6">
                  <c:v>0</c:v>
                </c:pt>
                <c:pt idx="7">
                  <c:v>0</c:v>
                </c:pt>
                <c:pt idx="8">
                  <c:v>0</c:v>
                </c:pt>
                <c:pt idx="9">
                  <c:v>0</c:v>
                </c:pt>
                <c:pt idx="10">
                  <c:v>0</c:v>
                </c:pt>
                <c:pt idx="11">
                  <c:v>0</c:v>
                </c:pt>
              </c:numCache>
            </c:numRef>
          </c:val>
        </c:ser>
        <c:dLbls>
          <c:numFmt formatCode="0.000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B444C"/>
                </a:solidFill>
                <a:latin typeface="Calibri"/>
              </a:defRPr>
            </a:pPr>
            <a:endParaRPr lang="en-US"/>
          </a:p>
        </c:txPr>
        <c:crossAx val="2094734552"/>
        <c:crosses val="autoZero"/>
        <c:auto val="1"/>
        <c:lblAlgn val="ctr"/>
        <c:noMultiLvlLbl val="1"/>
      </c:catAx>
      <c:valAx>
        <c:axId val="2094734552"/>
        <c:scaling>
          <c:orientation val="minMax"/>
          <c:max val="0.9"/>
          <c:min val="0.5"/>
        </c:scaling>
        <c:delete val="0"/>
        <c:axPos val="b"/>
        <c:majorGridlines>
          <c:spPr>
            <a:ln w="6350" cap="flat">
              <a:solidFill>
                <a:srgbClr val="E3E6E7"/>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6B747B"/>
                </a:solidFill>
                <a:latin typeface="Calibri"/>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3B444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13A"/>
                </a:solidFill>
                <a:latin typeface="Calibri"/>
              </a:defRPr>
            </a:pPr>
            <a:r>
              <a:rPr sz="1400" b="0" i="0" u="none" strike="noStrike">
                <a:solidFill>
                  <a:srgbClr val="24313A"/>
                </a:solidFill>
                <a:latin typeface="Calibri"/>
              </a:rPr>
              <a:t>Pérdida del IDH por desigualdad, 2024 (%)</a:t>
            </a:r>
          </a:p>
        </c:rich>
      </c:tx>
      <c:layout/>
      <c:overlay val="0"/>
    </c:title>
    <c:autoTitleDeleted val="0"/>
    <c:plotArea>
      <c:layout/>
      <c:barChart>
        <c:barDir val="col"/>
        <c:grouping val="clustered"/>
        <c:varyColors val="0"/>
        <c:ser>
          <c:idx val="0"/>
          <c:order val="0"/>
          <c:tx>
            <c:strRef>
              <c:f>Sheet1!$B$1</c:f>
              <c:strCache>
                <c:ptCount val="1"/>
                <c:pt idx="0">
                  <c:v>Pérdida por desigualdad (%)</c:v>
                </c:pt>
              </c:strCache>
            </c:strRef>
          </c:tx>
          <c:spPr>
            <a:solidFill>
              <a:srgbClr val="D9622B"/>
            </a:solidFill>
            <a:effectLst/>
          </c:spPr>
          <c:invertIfNegative val="0"/>
          <c:dLbls>
            <c:numFmt formatCode="0.0" sourceLinked="0"/>
            <c:txPr>
              <a:bodyPr/>
              <a:lstStyle/>
              <a:p>
                <a:pPr>
                  <a:defRPr b="1" i="0" strike="noStrike" sz="1100" u="none">
                    <a:solidFill>
                      <a:srgbClr val="3B444C"/>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San Isidro</c:v>
                  </c:pt>
                  <c:pt idx="1">
                    <c:v>San Borja</c:v>
                  </c:pt>
                  <c:pt idx="2">
                    <c:v>Surco</c:v>
                  </c:pt>
                  <c:pt idx="3">
                    <c:v>Los Olivos</c:v>
                  </c:pt>
                  <c:pt idx="4">
                    <c:v>Chorrillos</c:v>
                  </c:pt>
                  <c:pt idx="5">
                    <c:v>Barranco</c:v>
                  </c:pt>
                  <c:pt idx="6">
                    <c:v>S. J. de Lurigancho</c:v>
                  </c:pt>
                  <c:pt idx="7">
                    <c:v>Ica</c:v>
                  </c:pt>
                  <c:pt idx="8">
                    <c:v>Perú</c:v>
                  </c:pt>
                </c:lvl>
              </c:multiLvlStrCache>
            </c:multiLvlStrRef>
          </c:cat>
          <c:val>
            <c:numRef>
              <c:f>Sheet1!$B$2:$B$10</c:f>
              <c:numCache>
                <c:formatCode>General</c:formatCode>
                <c:ptCount val="9"/>
                <c:pt idx="0">
                  <c:v>3.9</c:v>
                </c:pt>
                <c:pt idx="1">
                  <c:v>4.2</c:v>
                </c:pt>
                <c:pt idx="2">
                  <c:v>5.9</c:v>
                </c:pt>
                <c:pt idx="3">
                  <c:v>6.9</c:v>
                </c:pt>
                <c:pt idx="4">
                  <c:v>8.5</c:v>
                </c:pt>
                <c:pt idx="5">
                  <c:v>8.6</c:v>
                </c:pt>
                <c:pt idx="6">
                  <c:v>11</c:v>
                </c:pt>
                <c:pt idx="7">
                  <c:v>12.9</c:v>
                </c:pt>
                <c:pt idx="8">
                  <c:v>18.1</c:v>
                </c:pt>
              </c:numCache>
            </c:numRef>
          </c:val>
        </c:ser>
        <c:dLbls>
          <c:numFmt formatCode="0.0" sourceLinked="0"/>
          <c:txPr>
            <a:bodyPr/>
            <a:lstStyle/>
            <a:p>
              <a:pPr>
                <a:defRPr b="1" i="0" strike="noStrike" sz="1100" u="none">
                  <a:solidFill>
                    <a:srgbClr val="3B444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2700000"/>
          <a:lstStyle/>
          <a:p>
            <a:pPr>
              <a:defRPr sz="1100" b="0" i="0" u="none" strike="noStrike">
                <a:solidFill>
                  <a:srgbClr val="3B444C"/>
                </a:solidFill>
                <a:latin typeface="Calibri"/>
              </a:defRPr>
            </a:pPr>
            <a:endParaRPr lang="en-US"/>
          </a:p>
        </c:txPr>
        <c:crossAx val="2094734552"/>
        <c:crosses val="autoZero"/>
        <c:auto val="1"/>
        <c:lblAlgn val="ctr"/>
        <c:noMultiLvlLbl val="1"/>
      </c:catAx>
      <c:valAx>
        <c:axId val="2094734552"/>
        <c:scaling>
          <c:orientation val="minMax"/>
          <c:max val="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Les presento mi trabajo sobre los determinantes sociales de la salud mental, las conductas de riesgo, la personalidad y los estilos de vida. Analicé las entrevistas de 20 universitarios. La idea que atraviesa toda la presentación es que el estrés es la variable que más se repite en el grupo, así que todo el análisis gira en torno a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los resultados, parto de una idea simple: la salud mental no depende solo de la persona, también depende del contexto. La OMS (2022) reconoce que las condiciones sociales, económicas y ambientales influyen en la salud mental. A esto sumo la evidencia sobre el estrés universitario y sobre cómo ciertos rasgos de personalidad se asocian con ansiedad o con consumo de alcohol. Esto se complementa con el IDH del PNUD (2025) y los ODS, que usaré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muestra está formada por 20 universitarios de 20 a 30 años, 12 mujeres y 8 varones. Todos participaron en una entrevista semiestructurada con la guía de determinantes sociales, previo consentimiento informado. Con esa información armé cuadros individuales en seis dimensiones y los crucé con el IDH distrital del PNUD. Las pruebas psicológicas se aplicaron en una segunda sesión, pero el informe se basa en las entrevistas.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central. 19 de los 20 participantes refieren estrés o ansiedad, es decir, el 95 % del grupo. Hay que aclarar que ningún cuadro reporta un diagnóstico clínico, hablamos de lo que ellos mismos cuentan. La principal fuente es la universidad, con 13 casos, seguida del trabajo, con 11, y en 2 casos aparece la familia. C.P no lo registra en salud mental, pero sí lo menciona por la búsqueda de empleo.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veamos dónde viven. Ordené los distritos según su IDH 2024, y entre paréntesis está el número de participantes en cada uno. 15 de los 20 viven en distritos de Desarrollo Humano Alto y 5 en distritos de nivel Mediano Alto. El promedio del grupo es 0.8149, muy por encima del 0.6621 del Perú. La fuente es el PNUD (2025), con valores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separamos por género, el estrés se vive de forma distinta. En las mujeres se asocia sobre todo al trabajo combinado con la universidad y se expresa hacia adentro, en el sueño, la alimentación, la piel y la tristeza. En los varones predomina el estrés académico y se expresa en la conducta, con irritabilidad, aislamiento o autoexigencia física. El alcohol solo se describe en uno de los ocho varones, por eso no se compara.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resumo el factor que más se repite en cada una de las seis áreas de análisis. Destaca la salud mental, con el estrés o la ansiedad en 19 de 20, pero también la carga académica, la alimentación irregular y el apoyo de los amigos. La responsabilidad empata con la confianza en sí mismo (7 de 20). Se eligió la responsabilidad por su relación con la carga académica.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unimos los factores predominantes, el estrés funciona como un eje. La carga académica exige tiempo y rendimiento, y además 11 de los 20 trabajan. La responsabilidad les permite cumplir, pero se convierte en autoexigencia, y eso alimenta el estrés, que termina sacrificando el sueño y las comidas. Los amigos son el principal factor protector, aunque es también con ellos con quienes se concentra el consumo de alcohol del fin de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esta lámina separo lo que viene del entorno y lo que viene de la persona. Del entorno, las tensiones vienen de la universidad y de las prácticas, con cuotas, falta de capacitación o maltrato verbal, y en pocos casos de la economía o la inseguridad. De la personalidad, la autoexigencia aparece junto con síntomas, mientras que algunos logros fortalecieron la confianza. Quiero subrayar que son asociaciones y no causas, porque la mayoría tiene soporte familiar, vivienda y seguro.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estrés no aparece solo, viene acompañado de algunas conductas. El alcohol aparece en 10 cuadros, casi siempre los fines de semana, y el sueño insuficiente en 9 participantes, de los cuales 8 trabajan. La actividad física protege a 8 participantes, pero en dos casos se vuelve excesiva. Ninguno es un diagnóstico, pero estos cuatro casos requieren evaluación individual.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IDH tiene tres dimensiones y las comparé con lo que cuentan los participantes. Casi todos tienen seguro, llegan a la universidad y cuentan con soporte familiar, pero aun así aparece el estrés. A la derecha se ve que la pérdida por desigualdad es menor en San Isidro y mayor en San Juan de Lurigancho e Ica, aunque todos están por debajo del Perú. El IDH mide salud, educación e ingreso, no la salud 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último, relaciono los hallazgos con los Objetivos de Desarrollo Sostenible. El más directo es el ODS 3, porque 19 de 20 tienen estrés y solo 1 recibe apoyo psicológico. El ODS 4 se vincula porque la universidad es la principal fuente de estrés, y el ODS 8 por las condiciones de las prácticas. También aparecen el ODS 5, el 10 y el 11, por el temor de las mujeres a salir solas, la inseguridad y la brecha entre distritos.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cuatro ideas. Primero, el estrés es la variable predominante y viene de la universidad y de las prácticas, no de carencias materiales. Segundo, las mujeres lo expresan en el cuerpo y el ánimo, y los varones en la conducta. Tercero, la autoexigencia lo aumenta, mientras que los amigos y el deporte lo alivian. Y cuarto, el IDH no refleja el estrés, y como son 20 casos de autorreporte, estos resultados no se pueden generalizar.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referencias que sustentan el análisis. Incluyen estudios recientes sobre estrés académico, sueño, personalidad y actividad física, además de los informes de la OMS, el PNUD y Naciones Unidas. Muchas gracias por su atención, quedo atenta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24313A"/>
        </a:solidFill>
      </p:bgPr>
    </p:bg>
    <p:spTree>
      <p:nvGrpSpPr>
        <p:cNvPr id="1" name=""/>
        <p:cNvGrpSpPr/>
        <p:nvPr/>
      </p:nvGrpSpPr>
      <p:grpSpPr>
        <a:xfrm>
          <a:off x="0" y="0"/>
          <a:ext cx="0" cy="0"/>
          <a:chOff x="0" y="0"/>
          <a:chExt cx="0" cy="0"/>
        </a:xfrm>
      </p:grpSpPr>
      <p:sp>
        <p:nvSpPr>
          <p:cNvPr id="2" name="Shape 0"/>
          <p:cNvSpPr/>
          <p:nvPr/>
        </p:nvSpPr>
        <p:spPr>
          <a:xfrm>
            <a:off x="10543032" y="6236208"/>
            <a:ext cx="1097280" cy="384048"/>
          </a:xfrm>
          <a:prstGeom prst="rect">
            <a:avLst/>
          </a:prstGeom>
          <a:solidFill>
            <a:srgbClr val="D9DDDF"/>
          </a:solidFill>
          <a:ln/>
        </p:spPr>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9D1D3"/>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rgbClr val="24313A"/>
        </a:solidFill>
      </p:bgPr>
    </p:bg>
    <p:spTree>
      <p:nvGrpSpPr>
        <p:cNvPr id="1" name=""/>
        <p:cNvGrpSpPr/>
        <p:nvPr/>
      </p:nvGrpSpPr>
      <p:grpSpPr>
        <a:xfrm>
          <a:off x="0" y="0"/>
          <a:ext cx="0" cy="0"/>
          <a:chOff x="0" y="0"/>
          <a:chExt cx="0" cy="0"/>
        </a:xfrm>
      </p:grpSpPr>
      <p:sp>
        <p:nvSpPr>
          <p:cNvPr id="2" name="Shape 0"/>
          <p:cNvSpPr/>
          <p:nvPr/>
        </p:nvSpPr>
        <p:spPr>
          <a:xfrm>
            <a:off x="10543032" y="6236208"/>
            <a:ext cx="1097280" cy="384048"/>
          </a:xfrm>
          <a:prstGeom prst="rect">
            <a:avLst/>
          </a:prstGeom>
          <a:solidFill>
            <a:srgbClr val="D9DDDF"/>
          </a:solidFill>
          <a:ln/>
        </p:spPr>
      </p:sp>
      <p:sp>
        <p:nvSpPr>
          <p:cNvPr id="3" name="Text 1"/>
          <p:cNvSpPr/>
          <p:nvPr>
            <p:ph idx="101" type="title" hasCustomPrompt="1"/>
          </p:nvPr>
        </p:nvSpPr>
        <p:spPr>
          <a:xfrm>
            <a:off x="548640" y="384048"/>
            <a:ext cx="11091672" cy="731520"/>
          </a:xfrm>
          <a:prstGeom prst="rect">
            <a:avLst/>
          </a:prstGeom>
          <a:noFill/>
          <a:ln/>
        </p:spPr>
        <p:txBody>
          <a:bodyPr wrap="square" rtlCol="0"/>
          <a:lstStyle>
            <a:lvl1pPr algn="l" indent="0" marL="0">
              <a:buNone/>
              <a:defRPr lang="en-US" sz="2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9D1D3"/>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AR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43032" y="6236208"/>
            <a:ext cx="1097280" cy="384048"/>
          </a:xfrm>
          <a:prstGeom prst="rect">
            <a:avLst/>
          </a:prstGeom>
          <a:solidFill>
            <a:srgbClr val="D9DDDF"/>
          </a:solidFill>
          <a:ln/>
        </p:spPr>
      </p:sp>
      <p:sp>
        <p:nvSpPr>
          <p:cNvPr id="3" name="Text 1"/>
          <p:cNvSpPr/>
          <p:nvPr>
            <p:ph idx="101" type="title" hasCustomPrompt="1"/>
          </p:nvPr>
        </p:nvSpPr>
        <p:spPr>
          <a:xfrm>
            <a:off x="548640" y="384048"/>
            <a:ext cx="11091672" cy="731520"/>
          </a:xfrm>
          <a:prstGeom prst="rect">
            <a:avLst/>
          </a:prstGeom>
          <a:noFill/>
          <a:ln/>
        </p:spPr>
        <p:txBody>
          <a:bodyPr wrap="square" rtlCol="0"/>
          <a:lstStyle>
            <a:lvl1pPr algn="l" indent="0" marL="0">
              <a:buNone/>
              <a:defRPr lang="en-US" sz="2600" b="1" dirty="0">
                <a:solidFill>
                  <a:srgbClr val="2431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9D1D3"/>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chart" Target="/ppt/charts/chart3.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Ícono cerebro círculo"/>
          <p:cNvSpPr/>
          <p:nvPr/>
        </p:nvSpPr>
        <p:spPr>
          <a:xfrm>
            <a:off x="548640" y="685800"/>
            <a:ext cx="777240" cy="777240"/>
          </a:xfrm>
          <a:prstGeom prst="ellipse">
            <a:avLst/>
          </a:prstGeom>
          <a:solidFill>
            <a:srgbClr val="D9622B"/>
          </a:solidFill>
          <a:ln/>
        </p:spPr>
      </p:sp>
      <p:pic>
        <p:nvPicPr>
          <p:cNvPr id="3" name="Ícono cerebro" descr="preencoded.png">    </p:cNvPr>
          <p:cNvPicPr>
            <a:picLocks noChangeAspect="1"/>
          </p:cNvPicPr>
          <p:nvPr/>
        </p:nvPicPr>
        <p:blipFill>
          <a:blip r:embed="rId1"/>
          <a:stretch>
            <a:fillRect/>
          </a:stretch>
        </p:blipFill>
        <p:spPr>
          <a:xfrm>
            <a:off x="727405" y="864565"/>
            <a:ext cx="419710" cy="419710"/>
          </a:xfrm>
          <a:prstGeom prst="rect">
            <a:avLst/>
          </a:prstGeom>
        </p:spPr>
      </p:pic>
      <p:sp>
        <p:nvSpPr>
          <p:cNvPr id="4" name="Curso"/>
          <p:cNvSpPr txBox="1"/>
          <p:nvPr/>
        </p:nvSpPr>
        <p:spPr>
          <a:xfrm>
            <a:off x="548640" y="1737360"/>
            <a:ext cx="11064240" cy="365760"/>
          </a:xfrm>
          <a:prstGeom prst="rect">
            <a:avLst/>
          </a:prstGeom>
          <a:noFill/>
          <a:ln/>
        </p:spPr>
        <p:txBody>
          <a:bodyPr wrap="square" lIns="0" tIns="0" rIns="0" bIns="0" rtlCol="0" anchor="t"/>
          <a:lstStyle/>
          <a:p>
            <a:pPr indent="0" marL="0">
              <a:buNone/>
            </a:pPr>
            <a:r>
              <a:rPr lang="en-US" sz="1400" b="1" spc="200" kern="0" dirty="0">
                <a:solidFill>
                  <a:srgbClr val="F2A57A"/>
                </a:solidFill>
                <a:latin typeface="Calibri" pitchFamily="34" charset="0"/>
                <a:ea typeface="Calibri" pitchFamily="34" charset="-122"/>
                <a:cs typeface="Calibri" pitchFamily="34" charset="-120"/>
              </a:rPr>
              <a:t>ESTRATEGIAS Y PROGRAMAS DE INTERVENCIÓN EN PROBLEMAS PSICOSOCIALES</a:t>
            </a:r>
            <a:endParaRPr lang="en-US" sz="1400" dirty="0"/>
          </a:p>
        </p:txBody>
      </p:sp>
      <p:sp>
        <p:nvSpPr>
          <p:cNvPr id="5" name="Título"/>
          <p:cNvSpPr txBox="1"/>
          <p:nvPr/>
        </p:nvSpPr>
        <p:spPr>
          <a:xfrm>
            <a:off x="548640" y="2240280"/>
            <a:ext cx="1106424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Determinantes sociales de la salud mental, conductas de riesgo, personalidad y estilos de vida</a:t>
            </a:r>
            <a:endParaRPr lang="en-US" sz="3600" dirty="0"/>
          </a:p>
        </p:txBody>
      </p:sp>
      <p:sp>
        <p:nvSpPr>
          <p:cNvPr id="6" name="Subtítulo"/>
          <p:cNvSpPr txBox="1"/>
          <p:nvPr/>
        </p:nvSpPr>
        <p:spPr>
          <a:xfrm>
            <a:off x="548640" y="3520440"/>
            <a:ext cx="10241280" cy="457200"/>
          </a:xfrm>
          <a:prstGeom prst="rect">
            <a:avLst/>
          </a:prstGeom>
          <a:noFill/>
          <a:ln/>
        </p:spPr>
        <p:txBody>
          <a:bodyPr wrap="square" lIns="0" tIns="0" rIns="0" bIns="0" rtlCol="0" anchor="t"/>
          <a:lstStyle/>
          <a:p>
            <a:pPr indent="0" marL="0">
              <a:buNone/>
            </a:pPr>
            <a:r>
              <a:rPr lang="en-US" sz="2000" i="1" dirty="0">
                <a:solidFill>
                  <a:srgbClr val="D5DBDE"/>
                </a:solidFill>
                <a:latin typeface="Calibri" pitchFamily="34" charset="0"/>
                <a:ea typeface="Calibri" pitchFamily="34" charset="-122"/>
                <a:cs typeface="Calibri" pitchFamily="34" charset="-120"/>
              </a:rPr>
              <a:t>Análisis de 20 universitarios: el estrés como variable predominante</a:t>
            </a:r>
            <a:endParaRPr lang="en-US" sz="2000" dirty="0"/>
          </a:p>
        </p:txBody>
      </p:sp>
      <p:sp>
        <p:nvSpPr>
          <p:cNvPr id="7" name="Pie"/>
          <p:cNvSpPr txBox="1"/>
          <p:nvPr/>
        </p:nvSpPr>
        <p:spPr>
          <a:xfrm>
            <a:off x="548640" y="4572000"/>
            <a:ext cx="8229600" cy="3657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Fatima Turner · Evaluación Continua 2, Semana 8</a:t>
            </a:r>
            <a:endParaRPr lang="en-US" sz="1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9D1D3"/>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La salud mental depende también del contexto</a:t>
            </a:r>
            <a:endParaRPr lang="en-US" sz="2600" dirty="0"/>
          </a:p>
        </p:txBody>
      </p:sp>
      <p:sp>
        <p:nvSpPr>
          <p:cNvPr id="3" name="Tarjeta Determinantes sociales"/>
          <p:cNvSpPr/>
          <p:nvPr/>
        </p:nvSpPr>
        <p:spPr>
          <a:xfrm>
            <a:off x="548640" y="1508760"/>
            <a:ext cx="3453384" cy="3749040"/>
          </a:xfrm>
          <a:prstGeom prst="roundRect">
            <a:avLst>
              <a:gd name="adj" fmla="val 3177"/>
            </a:avLst>
          </a:prstGeom>
          <a:solidFill>
            <a:srgbClr val="F3F4F4"/>
          </a:solidFill>
          <a:ln/>
        </p:spPr>
      </p:sp>
      <p:sp>
        <p:nvSpPr>
          <p:cNvPr id="4" name="Ícono Determinantes sociales círculo"/>
          <p:cNvSpPr/>
          <p:nvPr/>
        </p:nvSpPr>
        <p:spPr>
          <a:xfrm>
            <a:off x="868680" y="1828800"/>
            <a:ext cx="822960" cy="822960"/>
          </a:xfrm>
          <a:prstGeom prst="ellipse">
            <a:avLst/>
          </a:prstGeom>
          <a:solidFill>
            <a:srgbClr val="2E6E73"/>
          </a:solidFill>
          <a:ln/>
        </p:spPr>
      </p:sp>
      <p:pic>
        <p:nvPicPr>
          <p:cNvPr id="5" name="Ícono Determinantes sociales" descr="preencoded.png">    </p:cNvPr>
          <p:cNvPicPr>
            <a:picLocks noChangeAspect="1"/>
          </p:cNvPicPr>
          <p:nvPr/>
        </p:nvPicPr>
        <p:blipFill>
          <a:blip r:embed="rId1"/>
          <a:stretch>
            <a:fillRect/>
          </a:stretch>
        </p:blipFill>
        <p:spPr>
          <a:xfrm>
            <a:off x="1057961" y="2018081"/>
            <a:ext cx="444398" cy="444398"/>
          </a:xfrm>
          <a:prstGeom prst="rect">
            <a:avLst/>
          </a:prstGeom>
        </p:spPr>
      </p:pic>
      <p:sp>
        <p:nvSpPr>
          <p:cNvPr id="6" name="Text 3"/>
          <p:cNvSpPr txBox="1"/>
          <p:nvPr/>
        </p:nvSpPr>
        <p:spPr>
          <a:xfrm>
            <a:off x="868680" y="2834640"/>
            <a:ext cx="2813304" cy="457200"/>
          </a:xfrm>
          <a:prstGeom prst="rect">
            <a:avLst/>
          </a:prstGeom>
          <a:noFill/>
          <a:ln/>
        </p:spPr>
        <p:txBody>
          <a:bodyPr wrap="square" lIns="0" tIns="0" rIns="0" bIns="0" rtlCol="0" anchor="t"/>
          <a:lstStyle/>
          <a:p>
            <a:pPr indent="0" marL="0">
              <a:buNone/>
            </a:pPr>
            <a:r>
              <a:rPr lang="en-US" sz="1900" b="1" dirty="0">
                <a:solidFill>
                  <a:srgbClr val="24313A"/>
                </a:solidFill>
                <a:latin typeface="Cambria" pitchFamily="34" charset="0"/>
                <a:ea typeface="Cambria" pitchFamily="34" charset="-122"/>
                <a:cs typeface="Cambria" pitchFamily="34" charset="-120"/>
              </a:rPr>
              <a:t>Determinantes sociales</a:t>
            </a:r>
            <a:endParaRPr lang="en-US" sz="1900" dirty="0"/>
          </a:p>
        </p:txBody>
      </p:sp>
      <p:sp>
        <p:nvSpPr>
          <p:cNvPr id="7" name="Text 4"/>
          <p:cNvSpPr txBox="1"/>
          <p:nvPr/>
        </p:nvSpPr>
        <p:spPr>
          <a:xfrm>
            <a:off x="868680" y="3383280"/>
            <a:ext cx="2813304" cy="1737360"/>
          </a:xfrm>
          <a:prstGeom prst="rect">
            <a:avLst/>
          </a:prstGeom>
          <a:noFill/>
          <a:ln/>
        </p:spPr>
        <p:txBody>
          <a:bodyPr wrap="square" lIns="0" tIns="0" rIns="0" bIns="0" rtlCol="0" anchor="t"/>
          <a:lstStyle/>
          <a:p>
            <a:pPr indent="0" marL="0">
              <a:spcAft>
                <a:spcPts val="400"/>
              </a:spcAft>
              <a:buNone/>
            </a:pPr>
            <a:r>
              <a:rPr lang="en-US" sz="1600" dirty="0">
                <a:solidFill>
                  <a:srgbClr val="3B444C"/>
                </a:solidFill>
                <a:latin typeface="Calibri" pitchFamily="34" charset="0"/>
                <a:ea typeface="Calibri" pitchFamily="34" charset="-122"/>
                <a:cs typeface="Calibri" pitchFamily="34" charset="-120"/>
              </a:rPr>
              <a:t>La pobreza, la inseguridad laboral, el barrio y el aislamiento elevan el riesgo. Las redes de apoyo protegen (Kirkbride et al., 2024).</a:t>
            </a:r>
            <a:endParaRPr lang="en-US" sz="1600" dirty="0"/>
          </a:p>
        </p:txBody>
      </p:sp>
      <p:sp>
        <p:nvSpPr>
          <p:cNvPr id="8" name="Tarjeta Estrés universitario"/>
          <p:cNvSpPr/>
          <p:nvPr/>
        </p:nvSpPr>
        <p:spPr>
          <a:xfrm>
            <a:off x="4367784" y="1508760"/>
            <a:ext cx="3453384" cy="3749040"/>
          </a:xfrm>
          <a:prstGeom prst="roundRect">
            <a:avLst>
              <a:gd name="adj" fmla="val 3177"/>
            </a:avLst>
          </a:prstGeom>
          <a:solidFill>
            <a:srgbClr val="F3F4F4"/>
          </a:solidFill>
          <a:ln/>
        </p:spPr>
      </p:sp>
      <p:sp>
        <p:nvSpPr>
          <p:cNvPr id="9" name="Ícono Estrés universitario círculo"/>
          <p:cNvSpPr/>
          <p:nvPr/>
        </p:nvSpPr>
        <p:spPr>
          <a:xfrm>
            <a:off x="4687824" y="1828800"/>
            <a:ext cx="822960" cy="822960"/>
          </a:xfrm>
          <a:prstGeom prst="ellipse">
            <a:avLst/>
          </a:prstGeom>
          <a:solidFill>
            <a:srgbClr val="D9622B"/>
          </a:solidFill>
          <a:ln/>
        </p:spPr>
      </p:sp>
      <p:pic>
        <p:nvPicPr>
          <p:cNvPr id="10" name="Ícono Estrés universitario" descr="preencoded.png">    </p:cNvPr>
          <p:cNvPicPr>
            <a:picLocks noChangeAspect="1"/>
          </p:cNvPicPr>
          <p:nvPr/>
        </p:nvPicPr>
        <p:blipFill>
          <a:blip r:embed="rId2"/>
          <a:stretch>
            <a:fillRect/>
          </a:stretch>
        </p:blipFill>
        <p:spPr>
          <a:xfrm>
            <a:off x="4877105" y="2018081"/>
            <a:ext cx="444398" cy="444398"/>
          </a:xfrm>
          <a:prstGeom prst="rect">
            <a:avLst/>
          </a:prstGeom>
        </p:spPr>
      </p:pic>
      <p:sp>
        <p:nvSpPr>
          <p:cNvPr id="11" name="Text 7"/>
          <p:cNvSpPr txBox="1"/>
          <p:nvPr/>
        </p:nvSpPr>
        <p:spPr>
          <a:xfrm>
            <a:off x="4687824" y="2834640"/>
            <a:ext cx="2813304" cy="457200"/>
          </a:xfrm>
          <a:prstGeom prst="rect">
            <a:avLst/>
          </a:prstGeom>
          <a:noFill/>
          <a:ln/>
        </p:spPr>
        <p:txBody>
          <a:bodyPr wrap="square" lIns="0" tIns="0" rIns="0" bIns="0" rtlCol="0" anchor="t"/>
          <a:lstStyle/>
          <a:p>
            <a:pPr indent="0" marL="0">
              <a:buNone/>
            </a:pPr>
            <a:r>
              <a:rPr lang="en-US" sz="1900" b="1" dirty="0">
                <a:solidFill>
                  <a:srgbClr val="24313A"/>
                </a:solidFill>
                <a:latin typeface="Cambria" pitchFamily="34" charset="0"/>
                <a:ea typeface="Cambria" pitchFamily="34" charset="-122"/>
                <a:cs typeface="Cambria" pitchFamily="34" charset="-120"/>
              </a:rPr>
              <a:t>Estrés universitario</a:t>
            </a:r>
            <a:endParaRPr lang="en-US" sz="1900" dirty="0"/>
          </a:p>
        </p:txBody>
      </p:sp>
      <p:sp>
        <p:nvSpPr>
          <p:cNvPr id="12" name="Text 8"/>
          <p:cNvSpPr txBox="1"/>
          <p:nvPr/>
        </p:nvSpPr>
        <p:spPr>
          <a:xfrm>
            <a:off x="4687824" y="3383280"/>
            <a:ext cx="2813304" cy="1737360"/>
          </a:xfrm>
          <a:prstGeom prst="rect">
            <a:avLst/>
          </a:prstGeom>
          <a:noFill/>
          <a:ln/>
        </p:spPr>
        <p:txBody>
          <a:bodyPr wrap="square" lIns="0" tIns="0" rIns="0" bIns="0" rtlCol="0" anchor="t"/>
          <a:lstStyle/>
          <a:p>
            <a:pPr indent="0" marL="0">
              <a:spcAft>
                <a:spcPts val="400"/>
              </a:spcAft>
              <a:buNone/>
            </a:pPr>
            <a:r>
              <a:rPr lang="en-US" sz="1600" dirty="0">
                <a:solidFill>
                  <a:srgbClr val="3B444C"/>
                </a:solidFill>
                <a:latin typeface="Calibri" pitchFamily="34" charset="0"/>
                <a:ea typeface="Calibri" pitchFamily="34" charset="-122"/>
                <a:cs typeface="Calibri" pitchFamily="34" charset="-120"/>
              </a:rPr>
              <a:t>Más estrés académico se relaciona con menor bienestar (Barbayannis et al., 2022). Trabajar y estudiar aumenta el agotamiento (di Biase y Giusino, 2026).</a:t>
            </a:r>
            <a:endParaRPr lang="en-US" sz="1600" dirty="0"/>
          </a:p>
        </p:txBody>
      </p:sp>
      <p:sp>
        <p:nvSpPr>
          <p:cNvPr id="13" name="Tarjeta Personalidad"/>
          <p:cNvSpPr/>
          <p:nvPr/>
        </p:nvSpPr>
        <p:spPr>
          <a:xfrm>
            <a:off x="8186928" y="1508760"/>
            <a:ext cx="3453384" cy="3749040"/>
          </a:xfrm>
          <a:prstGeom prst="roundRect">
            <a:avLst>
              <a:gd name="adj" fmla="val 3177"/>
            </a:avLst>
          </a:prstGeom>
          <a:solidFill>
            <a:srgbClr val="F3F4F4"/>
          </a:solidFill>
          <a:ln/>
        </p:spPr>
      </p:sp>
      <p:sp>
        <p:nvSpPr>
          <p:cNvPr id="14" name="Ícono Personalidad círculo"/>
          <p:cNvSpPr/>
          <p:nvPr/>
        </p:nvSpPr>
        <p:spPr>
          <a:xfrm>
            <a:off x="8506968" y="1828800"/>
            <a:ext cx="822960" cy="822960"/>
          </a:xfrm>
          <a:prstGeom prst="ellipse">
            <a:avLst/>
          </a:prstGeom>
          <a:solidFill>
            <a:srgbClr val="2E6E73"/>
          </a:solidFill>
          <a:ln/>
        </p:spPr>
      </p:sp>
      <p:pic>
        <p:nvPicPr>
          <p:cNvPr id="15" name="Ícono Personalidad" descr="preencoded.png">    </p:cNvPr>
          <p:cNvPicPr>
            <a:picLocks noChangeAspect="1"/>
          </p:cNvPicPr>
          <p:nvPr/>
        </p:nvPicPr>
        <p:blipFill>
          <a:blip r:embed="rId3"/>
          <a:stretch>
            <a:fillRect/>
          </a:stretch>
        </p:blipFill>
        <p:spPr>
          <a:xfrm>
            <a:off x="8696249" y="2018081"/>
            <a:ext cx="444398" cy="444398"/>
          </a:xfrm>
          <a:prstGeom prst="rect">
            <a:avLst/>
          </a:prstGeom>
        </p:spPr>
      </p:pic>
      <p:sp>
        <p:nvSpPr>
          <p:cNvPr id="16" name="Text 11"/>
          <p:cNvSpPr txBox="1"/>
          <p:nvPr/>
        </p:nvSpPr>
        <p:spPr>
          <a:xfrm>
            <a:off x="8506968" y="2834640"/>
            <a:ext cx="2813304" cy="457200"/>
          </a:xfrm>
          <a:prstGeom prst="rect">
            <a:avLst/>
          </a:prstGeom>
          <a:noFill/>
          <a:ln/>
        </p:spPr>
        <p:txBody>
          <a:bodyPr wrap="square" lIns="0" tIns="0" rIns="0" bIns="0" rtlCol="0" anchor="t"/>
          <a:lstStyle/>
          <a:p>
            <a:pPr indent="0" marL="0">
              <a:buNone/>
            </a:pPr>
            <a:r>
              <a:rPr lang="en-US" sz="1900" b="1" dirty="0">
                <a:solidFill>
                  <a:srgbClr val="24313A"/>
                </a:solidFill>
                <a:latin typeface="Cambria" pitchFamily="34" charset="0"/>
                <a:ea typeface="Cambria" pitchFamily="34" charset="-122"/>
                <a:cs typeface="Cambria" pitchFamily="34" charset="-120"/>
              </a:rPr>
              <a:t>Personalidad</a:t>
            </a:r>
            <a:endParaRPr lang="en-US" sz="1900" dirty="0"/>
          </a:p>
        </p:txBody>
      </p:sp>
      <p:sp>
        <p:nvSpPr>
          <p:cNvPr id="17" name="Text 12"/>
          <p:cNvSpPr txBox="1"/>
          <p:nvPr/>
        </p:nvSpPr>
        <p:spPr>
          <a:xfrm>
            <a:off x="8506968" y="3383280"/>
            <a:ext cx="2813304" cy="1737360"/>
          </a:xfrm>
          <a:prstGeom prst="rect">
            <a:avLst/>
          </a:prstGeom>
          <a:noFill/>
          <a:ln/>
        </p:spPr>
        <p:txBody>
          <a:bodyPr wrap="square" lIns="0" tIns="0" rIns="0" bIns="0" rtlCol="0" anchor="t"/>
          <a:lstStyle/>
          <a:p>
            <a:pPr indent="0" marL="0">
              <a:spcAft>
                <a:spcPts val="400"/>
              </a:spcAft>
              <a:buNone/>
            </a:pPr>
            <a:r>
              <a:rPr lang="en-US" sz="1600" dirty="0">
                <a:solidFill>
                  <a:srgbClr val="3B444C"/>
                </a:solidFill>
                <a:latin typeface="Calibri" pitchFamily="34" charset="0"/>
                <a:ea typeface="Calibri" pitchFamily="34" charset="-122"/>
                <a:cs typeface="Calibri" pitchFamily="34" charset="-120"/>
              </a:rPr>
              <a:t>El perfeccionismo se asocia con ansiedad (Lunn et al., 2023). La búsqueda de emociones, con más consumo de alcohol (Lui et al., 2022).</a:t>
            </a:r>
            <a:endParaRPr lang="en-US" sz="1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Metodología: 20 universitarios entrevistados</a:t>
            </a:r>
            <a:endParaRPr lang="en-US" sz="2600" dirty="0"/>
          </a:p>
        </p:txBody>
      </p:sp>
      <p:sp>
        <p:nvSpPr>
          <p:cNvPr id="3" name="Tarjeta muestra"/>
          <p:cNvSpPr/>
          <p:nvPr/>
        </p:nvSpPr>
        <p:spPr>
          <a:xfrm>
            <a:off x="548640" y="1508760"/>
            <a:ext cx="3566160" cy="4160520"/>
          </a:xfrm>
          <a:prstGeom prst="roundRect">
            <a:avLst>
              <a:gd name="adj" fmla="val 3077"/>
            </a:avLst>
          </a:prstGeom>
          <a:solidFill>
            <a:srgbClr val="F3F4F4"/>
          </a:solidFill>
          <a:ln/>
        </p:spPr>
      </p:sp>
      <p:sp>
        <p:nvSpPr>
          <p:cNvPr id="4" name="Text 2"/>
          <p:cNvSpPr txBox="1"/>
          <p:nvPr/>
        </p:nvSpPr>
        <p:spPr>
          <a:xfrm>
            <a:off x="868680" y="1783080"/>
            <a:ext cx="1325880" cy="914400"/>
          </a:xfrm>
          <a:prstGeom prst="rect">
            <a:avLst/>
          </a:prstGeom>
          <a:noFill/>
          <a:ln/>
        </p:spPr>
        <p:txBody>
          <a:bodyPr wrap="square" lIns="0" tIns="0" rIns="0" bIns="0" rtlCol="0" anchor="ctr"/>
          <a:lstStyle/>
          <a:p>
            <a:pPr indent="0" marL="0">
              <a:buNone/>
            </a:pPr>
            <a:r>
              <a:rPr lang="en-US" sz="5400" b="1" dirty="0">
                <a:solidFill>
                  <a:srgbClr val="24313A"/>
                </a:solidFill>
                <a:latin typeface="Cambria" pitchFamily="34" charset="0"/>
                <a:ea typeface="Cambria" pitchFamily="34" charset="-122"/>
                <a:cs typeface="Cambria" pitchFamily="34" charset="-120"/>
              </a:rPr>
              <a:t>20</a:t>
            </a:r>
            <a:endParaRPr lang="en-US" sz="5400" dirty="0"/>
          </a:p>
        </p:txBody>
      </p:sp>
      <p:sp>
        <p:nvSpPr>
          <p:cNvPr id="5" name="Text 3"/>
          <p:cNvSpPr txBox="1"/>
          <p:nvPr/>
        </p:nvSpPr>
        <p:spPr>
          <a:xfrm>
            <a:off x="2240280" y="1783080"/>
            <a:ext cx="1737360" cy="914400"/>
          </a:xfrm>
          <a:prstGeom prst="rect">
            <a:avLst/>
          </a:prstGeom>
          <a:noFill/>
          <a:ln/>
        </p:spPr>
        <p:txBody>
          <a:bodyPr wrap="square" lIns="0" tIns="0" rIns="0" bIns="0" rtlCol="0" anchor="ctr"/>
          <a:lstStyle/>
          <a:p>
            <a:pPr indent="0" marL="0">
              <a:buNone/>
            </a:pPr>
            <a:r>
              <a:rPr lang="en-US" sz="1800" dirty="0">
                <a:solidFill>
                  <a:srgbClr val="3B444C"/>
                </a:solidFill>
                <a:latin typeface="Calibri" pitchFamily="34" charset="0"/>
                <a:ea typeface="Calibri" pitchFamily="34" charset="-122"/>
                <a:cs typeface="Calibri" pitchFamily="34" charset="-120"/>
              </a:rPr>
              <a:t>participantes</a:t>
            </a:r>
            <a:endParaRPr lang="en-US" sz="1800" dirty="0"/>
          </a:p>
        </p:txBody>
      </p:sp>
      <p:sp>
        <p:nvSpPr>
          <p:cNvPr id="6" name="Text 4"/>
          <p:cNvSpPr txBox="1"/>
          <p:nvPr/>
        </p:nvSpPr>
        <p:spPr>
          <a:xfrm>
            <a:off x="868680" y="3017520"/>
            <a:ext cx="1325880" cy="914400"/>
          </a:xfrm>
          <a:prstGeom prst="rect">
            <a:avLst/>
          </a:prstGeom>
          <a:noFill/>
          <a:ln/>
        </p:spPr>
        <p:txBody>
          <a:bodyPr wrap="square" lIns="0" tIns="0" rIns="0" bIns="0" rtlCol="0" anchor="ctr"/>
          <a:lstStyle/>
          <a:p>
            <a:pPr indent="0" marL="0">
              <a:buNone/>
            </a:pPr>
            <a:r>
              <a:rPr lang="en-US" sz="5400" b="1" dirty="0">
                <a:solidFill>
                  <a:srgbClr val="D9622B"/>
                </a:solidFill>
                <a:latin typeface="Cambria" pitchFamily="34" charset="0"/>
                <a:ea typeface="Cambria" pitchFamily="34" charset="-122"/>
                <a:cs typeface="Cambria" pitchFamily="34" charset="-120"/>
              </a:rPr>
              <a:t>12</a:t>
            </a:r>
            <a:endParaRPr lang="en-US" sz="5400" dirty="0"/>
          </a:p>
        </p:txBody>
      </p:sp>
      <p:sp>
        <p:nvSpPr>
          <p:cNvPr id="7" name="Text 5"/>
          <p:cNvSpPr txBox="1"/>
          <p:nvPr/>
        </p:nvSpPr>
        <p:spPr>
          <a:xfrm>
            <a:off x="2240280" y="3017520"/>
            <a:ext cx="1737360" cy="914400"/>
          </a:xfrm>
          <a:prstGeom prst="rect">
            <a:avLst/>
          </a:prstGeom>
          <a:noFill/>
          <a:ln/>
        </p:spPr>
        <p:txBody>
          <a:bodyPr wrap="square" lIns="0" tIns="0" rIns="0" bIns="0" rtlCol="0" anchor="ctr"/>
          <a:lstStyle/>
          <a:p>
            <a:pPr indent="0" marL="0">
              <a:buNone/>
            </a:pPr>
            <a:r>
              <a:rPr lang="en-US" sz="1800" dirty="0">
                <a:solidFill>
                  <a:srgbClr val="3B444C"/>
                </a:solidFill>
                <a:latin typeface="Calibri" pitchFamily="34" charset="0"/>
                <a:ea typeface="Calibri" pitchFamily="34" charset="-122"/>
                <a:cs typeface="Calibri" pitchFamily="34" charset="-120"/>
              </a:rPr>
              <a:t>mujeres</a:t>
            </a:r>
            <a:endParaRPr lang="en-US" sz="1800" dirty="0"/>
          </a:p>
        </p:txBody>
      </p:sp>
      <p:sp>
        <p:nvSpPr>
          <p:cNvPr id="8" name="Text 6"/>
          <p:cNvSpPr txBox="1"/>
          <p:nvPr/>
        </p:nvSpPr>
        <p:spPr>
          <a:xfrm>
            <a:off x="868680" y="4251960"/>
            <a:ext cx="1325880" cy="914400"/>
          </a:xfrm>
          <a:prstGeom prst="rect">
            <a:avLst/>
          </a:prstGeom>
          <a:noFill/>
          <a:ln/>
        </p:spPr>
        <p:txBody>
          <a:bodyPr wrap="square" lIns="0" tIns="0" rIns="0" bIns="0" rtlCol="0" anchor="ctr"/>
          <a:lstStyle/>
          <a:p>
            <a:pPr indent="0" marL="0">
              <a:buNone/>
            </a:pPr>
            <a:r>
              <a:rPr lang="en-US" sz="5400" b="1" dirty="0">
                <a:solidFill>
                  <a:srgbClr val="2E6E73"/>
                </a:solidFill>
                <a:latin typeface="Cambria" pitchFamily="34" charset="0"/>
                <a:ea typeface="Cambria" pitchFamily="34" charset="-122"/>
                <a:cs typeface="Cambria" pitchFamily="34" charset="-120"/>
              </a:rPr>
              <a:t>8</a:t>
            </a:r>
            <a:endParaRPr lang="en-US" sz="5400" dirty="0"/>
          </a:p>
        </p:txBody>
      </p:sp>
      <p:sp>
        <p:nvSpPr>
          <p:cNvPr id="9" name="Text 7"/>
          <p:cNvSpPr txBox="1"/>
          <p:nvPr/>
        </p:nvSpPr>
        <p:spPr>
          <a:xfrm>
            <a:off x="2240280" y="4251960"/>
            <a:ext cx="1737360" cy="914400"/>
          </a:xfrm>
          <a:prstGeom prst="rect">
            <a:avLst/>
          </a:prstGeom>
          <a:noFill/>
          <a:ln/>
        </p:spPr>
        <p:txBody>
          <a:bodyPr wrap="square" lIns="0" tIns="0" rIns="0" bIns="0" rtlCol="0" anchor="ctr"/>
          <a:lstStyle/>
          <a:p>
            <a:pPr indent="0" marL="0">
              <a:buNone/>
            </a:pPr>
            <a:r>
              <a:rPr lang="en-US" sz="1800" dirty="0">
                <a:solidFill>
                  <a:srgbClr val="3B444C"/>
                </a:solidFill>
                <a:latin typeface="Calibri" pitchFamily="34" charset="0"/>
                <a:ea typeface="Calibri" pitchFamily="34" charset="-122"/>
                <a:cs typeface="Calibri" pitchFamily="34" charset="-120"/>
              </a:rPr>
              <a:t>varones</a:t>
            </a:r>
            <a:endParaRPr lang="en-US" sz="1800" dirty="0"/>
          </a:p>
        </p:txBody>
      </p:sp>
      <p:sp>
        <p:nvSpPr>
          <p:cNvPr id="10" name="Text 8"/>
          <p:cNvSpPr txBox="1"/>
          <p:nvPr/>
        </p:nvSpPr>
        <p:spPr>
          <a:xfrm>
            <a:off x="4572000" y="1508760"/>
            <a:ext cx="7040880" cy="457200"/>
          </a:xfrm>
          <a:prstGeom prst="rect">
            <a:avLst/>
          </a:prstGeom>
          <a:noFill/>
          <a:ln/>
        </p:spPr>
        <p:txBody>
          <a:bodyPr wrap="square" lIns="0" tIns="0" rIns="0" bIns="0" rtlCol="0" anchor="ctr"/>
          <a:lstStyle/>
          <a:p>
            <a:pPr indent="0" marL="0">
              <a:buNone/>
            </a:pPr>
            <a:r>
              <a:rPr lang="en-US" sz="2000" b="1" dirty="0">
                <a:solidFill>
                  <a:srgbClr val="24313A"/>
                </a:solidFill>
                <a:latin typeface="Cambria" pitchFamily="34" charset="0"/>
                <a:ea typeface="Cambria" pitchFamily="34" charset="-122"/>
                <a:cs typeface="Cambria" pitchFamily="34" charset="-120"/>
              </a:rPr>
              <a:t>Fuentes de información</a:t>
            </a:r>
            <a:endParaRPr lang="en-US" sz="2000" dirty="0"/>
          </a:p>
        </p:txBody>
      </p:sp>
      <p:sp>
        <p:nvSpPr>
          <p:cNvPr id="11" name="Ícono fuente 1 círculo"/>
          <p:cNvSpPr/>
          <p:nvPr/>
        </p:nvSpPr>
        <p:spPr>
          <a:xfrm>
            <a:off x="4572000" y="2240280"/>
            <a:ext cx="640080" cy="640080"/>
          </a:xfrm>
          <a:prstGeom prst="ellipse">
            <a:avLst/>
          </a:prstGeom>
          <a:solidFill>
            <a:srgbClr val="D9622B"/>
          </a:solidFill>
          <a:ln/>
        </p:spPr>
      </p:sp>
      <p:pic>
        <p:nvPicPr>
          <p:cNvPr id="12" name="Ícono fuente 1" descr="preencoded.png">    </p:cNvPr>
          <p:cNvPicPr>
            <a:picLocks noChangeAspect="1"/>
          </p:cNvPicPr>
          <p:nvPr/>
        </p:nvPicPr>
        <p:blipFill>
          <a:blip r:embed="rId1"/>
          <a:stretch>
            <a:fillRect/>
          </a:stretch>
        </p:blipFill>
        <p:spPr>
          <a:xfrm>
            <a:off x="4719218" y="2387498"/>
            <a:ext cx="345643" cy="345643"/>
          </a:xfrm>
          <a:prstGeom prst="rect">
            <a:avLst/>
          </a:prstGeom>
        </p:spPr>
      </p:pic>
      <p:sp>
        <p:nvSpPr>
          <p:cNvPr id="13" name="Text 10"/>
          <p:cNvSpPr txBox="1"/>
          <p:nvPr/>
        </p:nvSpPr>
        <p:spPr>
          <a:xfrm>
            <a:off x="5440680" y="2240280"/>
            <a:ext cx="6172200" cy="64008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Entrevista semiestructurada con la guía de DSS, con consentimiento informado</a:t>
            </a:r>
            <a:endParaRPr lang="en-US" sz="1600" dirty="0"/>
          </a:p>
        </p:txBody>
      </p:sp>
      <p:sp>
        <p:nvSpPr>
          <p:cNvPr id="14" name="Ícono fuente 2 círculo"/>
          <p:cNvSpPr/>
          <p:nvPr/>
        </p:nvSpPr>
        <p:spPr>
          <a:xfrm>
            <a:off x="4572000" y="3154680"/>
            <a:ext cx="640080" cy="640080"/>
          </a:xfrm>
          <a:prstGeom prst="ellipse">
            <a:avLst/>
          </a:prstGeom>
          <a:solidFill>
            <a:srgbClr val="2E6E73"/>
          </a:solidFill>
          <a:ln/>
        </p:spPr>
      </p:sp>
      <p:pic>
        <p:nvPicPr>
          <p:cNvPr id="15" name="Ícono fuente 2" descr="preencoded.png">    </p:cNvPr>
          <p:cNvPicPr>
            <a:picLocks noChangeAspect="1"/>
          </p:cNvPicPr>
          <p:nvPr/>
        </p:nvPicPr>
        <p:blipFill>
          <a:blip r:embed="rId2"/>
          <a:stretch>
            <a:fillRect/>
          </a:stretch>
        </p:blipFill>
        <p:spPr>
          <a:xfrm>
            <a:off x="4719218" y="3301898"/>
            <a:ext cx="345643" cy="345643"/>
          </a:xfrm>
          <a:prstGeom prst="rect">
            <a:avLst/>
          </a:prstGeom>
        </p:spPr>
      </p:pic>
      <p:sp>
        <p:nvSpPr>
          <p:cNvPr id="16" name="Text 12"/>
          <p:cNvSpPr txBox="1"/>
          <p:nvPr/>
        </p:nvSpPr>
        <p:spPr>
          <a:xfrm>
            <a:off x="5440680" y="3154680"/>
            <a:ext cx="6172200" cy="64008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Cuadros individuales de análisis en seis dimensiones</a:t>
            </a:r>
            <a:endParaRPr lang="en-US" sz="1600" dirty="0"/>
          </a:p>
        </p:txBody>
      </p:sp>
      <p:sp>
        <p:nvSpPr>
          <p:cNvPr id="17" name="Ícono fuente 3 círculo"/>
          <p:cNvSpPr/>
          <p:nvPr/>
        </p:nvSpPr>
        <p:spPr>
          <a:xfrm>
            <a:off x="4572000" y="4069080"/>
            <a:ext cx="640080" cy="640080"/>
          </a:xfrm>
          <a:prstGeom prst="ellipse">
            <a:avLst/>
          </a:prstGeom>
          <a:solidFill>
            <a:srgbClr val="2E6E73"/>
          </a:solidFill>
          <a:ln/>
        </p:spPr>
      </p:sp>
      <p:pic>
        <p:nvPicPr>
          <p:cNvPr id="18" name="Ícono fuente 3" descr="preencoded.png">    </p:cNvPr>
          <p:cNvPicPr>
            <a:picLocks noChangeAspect="1"/>
          </p:cNvPicPr>
          <p:nvPr/>
        </p:nvPicPr>
        <p:blipFill>
          <a:blip r:embed="rId3"/>
          <a:stretch>
            <a:fillRect/>
          </a:stretch>
        </p:blipFill>
        <p:spPr>
          <a:xfrm>
            <a:off x="4719218" y="4216298"/>
            <a:ext cx="345643" cy="345643"/>
          </a:xfrm>
          <a:prstGeom prst="rect">
            <a:avLst/>
          </a:prstGeom>
        </p:spPr>
      </p:pic>
      <p:sp>
        <p:nvSpPr>
          <p:cNvPr id="19" name="Text 14"/>
          <p:cNvSpPr txBox="1"/>
          <p:nvPr/>
        </p:nvSpPr>
        <p:spPr>
          <a:xfrm>
            <a:off x="5440680" y="4069080"/>
            <a:ext cx="6172200" cy="64008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IDH distrital 2024 del PNUD (Anexo 1, Informe 2025)</a:t>
            </a:r>
            <a:endParaRPr lang="en-US" sz="1600" dirty="0"/>
          </a:p>
        </p:txBody>
      </p:sp>
      <p:sp>
        <p:nvSpPr>
          <p:cNvPr id="20" name="Text 15"/>
          <p:cNvSpPr txBox="1"/>
          <p:nvPr/>
        </p:nvSpPr>
        <p:spPr>
          <a:xfrm>
            <a:off x="4572000" y="5120640"/>
            <a:ext cx="7040880" cy="502920"/>
          </a:xfrm>
          <a:prstGeom prst="rect">
            <a:avLst/>
          </a:prstGeom>
          <a:noFill/>
          <a:ln/>
        </p:spPr>
        <p:txBody>
          <a:bodyPr wrap="square" lIns="0" tIns="0" rIns="0" bIns="0" rtlCol="0" anchor="b"/>
          <a:lstStyle/>
          <a:p>
            <a:pPr indent="0" marL="0">
              <a:buNone/>
            </a:pPr>
            <a:r>
              <a:rPr lang="en-US" sz="1200" dirty="0">
                <a:solidFill>
                  <a:srgbClr val="6B747B"/>
                </a:solidFill>
                <a:latin typeface="Calibri" pitchFamily="34" charset="0"/>
                <a:ea typeface="Calibri" pitchFamily="34" charset="-122"/>
                <a:cs typeface="Calibri" pitchFamily="34" charset="-120"/>
              </a:rPr>
              <a:t>Universitarios de 20 a 30 años. 19 viven en Lima y 1 en Ica. Variable central: el estrés, presente en 19 de 20.</a:t>
            </a:r>
            <a:endParaRPr lang="en-US" sz="12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El estrés es la variable predominante</a:t>
            </a:r>
            <a:endParaRPr lang="en-US" sz="2600" dirty="0"/>
          </a:p>
        </p:txBody>
      </p:sp>
      <p:sp>
        <p:nvSpPr>
          <p:cNvPr id="3" name="Tarjeta destacada estrés"/>
          <p:cNvSpPr/>
          <p:nvPr/>
        </p:nvSpPr>
        <p:spPr>
          <a:xfrm>
            <a:off x="548640" y="1508760"/>
            <a:ext cx="4206240" cy="4160520"/>
          </a:xfrm>
          <a:prstGeom prst="roundRect">
            <a:avLst>
              <a:gd name="adj" fmla="val 2637"/>
            </a:avLst>
          </a:prstGeom>
          <a:solidFill>
            <a:srgbClr val="FBEDE4"/>
          </a:solidFill>
          <a:ln/>
        </p:spPr>
      </p:sp>
      <p:sp>
        <p:nvSpPr>
          <p:cNvPr id="4" name="Ícono cerebro círculo"/>
          <p:cNvSpPr/>
          <p:nvPr/>
        </p:nvSpPr>
        <p:spPr>
          <a:xfrm>
            <a:off x="868680" y="1828800"/>
            <a:ext cx="868680" cy="868680"/>
          </a:xfrm>
          <a:prstGeom prst="ellipse">
            <a:avLst/>
          </a:prstGeom>
          <a:solidFill>
            <a:srgbClr val="D9622B"/>
          </a:solidFill>
          <a:ln/>
        </p:spPr>
      </p:sp>
      <p:pic>
        <p:nvPicPr>
          <p:cNvPr id="5" name="Ícono cerebro" descr="preencoded.png">    </p:cNvPr>
          <p:cNvPicPr>
            <a:picLocks noChangeAspect="1"/>
          </p:cNvPicPr>
          <p:nvPr/>
        </p:nvPicPr>
        <p:blipFill>
          <a:blip r:embed="rId1"/>
          <a:stretch>
            <a:fillRect/>
          </a:stretch>
        </p:blipFill>
        <p:spPr>
          <a:xfrm>
            <a:off x="1068476" y="2028596"/>
            <a:ext cx="469087" cy="469087"/>
          </a:xfrm>
          <a:prstGeom prst="rect">
            <a:avLst/>
          </a:prstGeom>
        </p:spPr>
      </p:pic>
      <p:sp>
        <p:nvSpPr>
          <p:cNvPr id="6" name="Text 3"/>
          <p:cNvSpPr txBox="1"/>
          <p:nvPr/>
        </p:nvSpPr>
        <p:spPr>
          <a:xfrm>
            <a:off x="868680" y="2834640"/>
            <a:ext cx="3657600" cy="914400"/>
          </a:xfrm>
          <a:prstGeom prst="rect">
            <a:avLst/>
          </a:prstGeom>
          <a:noFill/>
          <a:ln/>
        </p:spPr>
        <p:txBody>
          <a:bodyPr wrap="square" lIns="0" tIns="0" rIns="0" bIns="0" rtlCol="0" anchor="ctr"/>
          <a:lstStyle/>
          <a:p>
            <a:pPr indent="0" marL="0">
              <a:buNone/>
            </a:pPr>
            <a:r>
              <a:rPr lang="en-US" sz="5400" b="1" dirty="0">
                <a:solidFill>
                  <a:srgbClr val="D9622B"/>
                </a:solidFill>
                <a:latin typeface="Cambria" pitchFamily="34" charset="0"/>
                <a:ea typeface="Cambria" pitchFamily="34" charset="-122"/>
                <a:cs typeface="Cambria" pitchFamily="34" charset="-120"/>
              </a:rPr>
              <a:t>19 de 20</a:t>
            </a:r>
            <a:endParaRPr lang="en-US" sz="5400" dirty="0"/>
          </a:p>
        </p:txBody>
      </p:sp>
      <p:sp>
        <p:nvSpPr>
          <p:cNvPr id="7" name="Text 4"/>
          <p:cNvSpPr txBox="1"/>
          <p:nvPr/>
        </p:nvSpPr>
        <p:spPr>
          <a:xfrm>
            <a:off x="868680" y="3886200"/>
            <a:ext cx="3611880" cy="1463040"/>
          </a:xfrm>
          <a:prstGeom prst="rect">
            <a:avLst/>
          </a:prstGeom>
          <a:noFill/>
          <a:ln/>
        </p:spPr>
        <p:txBody>
          <a:bodyPr wrap="square" lIns="0" tIns="0" rIns="0" bIns="0" rtlCol="0" anchor="t"/>
          <a:lstStyle/>
          <a:p>
            <a:pPr indent="0" marL="0">
              <a:buNone/>
            </a:pPr>
            <a:r>
              <a:rPr lang="en-US" sz="1700" dirty="0">
                <a:solidFill>
                  <a:srgbClr val="3B444C"/>
                </a:solidFill>
                <a:latin typeface="Calibri" pitchFamily="34" charset="0"/>
                <a:ea typeface="Calibri" pitchFamily="34" charset="-122"/>
                <a:cs typeface="Calibri" pitchFamily="34" charset="-120"/>
              </a:rPr>
              <a:t>participantes refieren estrés o ansiedad (95 %). Ningún cuadro reporta un diagnóstico clínico.</a:t>
            </a:r>
            <a:endParaRPr lang="en-US" sz="1700" dirty="0"/>
          </a:p>
        </p:txBody>
      </p:sp>
      <p:graphicFrame>
        <p:nvGraphicFramePr>
          <p:cNvPr id="8" name="Gráfico fuentes del estrés" descr=""/>
          <p:cNvGraphicFramePr/>
          <p:nvPr/>
        </p:nvGraphicFramePr>
        <p:xfrm>
          <a:off x="5120640" y="1508760"/>
          <a:ext cx="6519672" cy="41605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15 de 20 viven en distritos de Desarrollo Humano Alto</a:t>
            </a:r>
            <a:endParaRPr lang="en-US" sz="2600" dirty="0"/>
          </a:p>
        </p:txBody>
      </p:sp>
      <p:graphicFrame>
        <p:nvGraphicFramePr>
          <p:cNvPr id="3" name="Gráfico IDH por distrito" descr=""/>
          <p:cNvGraphicFramePr/>
          <p:nvPr/>
        </p:nvGraphicFramePr>
        <p:xfrm>
          <a:off x="548640" y="1371600"/>
          <a:ext cx="7315200" cy="4663440"/>
        </p:xfrm>
        <a:graphic xmlns:a="http://schemas.openxmlformats.org/drawingml/2006/main">
          <a:graphicData uri="http://schemas.openxmlformats.org/drawingml/2006/chart">
            <c:chart xmlns:c="http://schemas.openxmlformats.org/drawingml/2006/chart" r:id="rId1"/>
          </a:graphicData>
        </a:graphic>
      </p:graphicFrame>
      <p:sp>
        <p:nvSpPr>
          <p:cNvPr id="4" name="Tarjeta IDH promedio"/>
          <p:cNvSpPr/>
          <p:nvPr/>
        </p:nvSpPr>
        <p:spPr>
          <a:xfrm>
            <a:off x="8229600" y="1508760"/>
            <a:ext cx="3410712" cy="4526280"/>
          </a:xfrm>
          <a:prstGeom prst="roundRect">
            <a:avLst>
              <a:gd name="adj" fmla="val 3217"/>
            </a:avLst>
          </a:prstGeom>
          <a:solidFill>
            <a:srgbClr val="F3F4F4"/>
          </a:solidFill>
          <a:ln/>
        </p:spPr>
      </p:sp>
      <p:sp>
        <p:nvSpPr>
          <p:cNvPr id="5" name="Ícono ubicación círculo"/>
          <p:cNvSpPr/>
          <p:nvPr/>
        </p:nvSpPr>
        <p:spPr>
          <a:xfrm>
            <a:off x="8503920" y="1783080"/>
            <a:ext cx="640080" cy="640080"/>
          </a:xfrm>
          <a:prstGeom prst="ellipse">
            <a:avLst/>
          </a:prstGeom>
          <a:solidFill>
            <a:srgbClr val="D9622B"/>
          </a:solidFill>
          <a:ln/>
        </p:spPr>
      </p:sp>
      <p:pic>
        <p:nvPicPr>
          <p:cNvPr id="6" name="Ícono ubicación" descr="preencoded.png">    </p:cNvPr>
          <p:cNvPicPr>
            <a:picLocks noChangeAspect="1"/>
          </p:cNvPicPr>
          <p:nvPr/>
        </p:nvPicPr>
        <p:blipFill>
          <a:blip r:embed="rId2"/>
          <a:stretch>
            <a:fillRect/>
          </a:stretch>
        </p:blipFill>
        <p:spPr>
          <a:xfrm>
            <a:off x="8651138" y="1930298"/>
            <a:ext cx="345643" cy="345643"/>
          </a:xfrm>
          <a:prstGeom prst="rect">
            <a:avLst/>
          </a:prstGeom>
        </p:spPr>
      </p:pic>
      <p:sp>
        <p:nvSpPr>
          <p:cNvPr id="7" name="Text 3"/>
          <p:cNvSpPr txBox="1"/>
          <p:nvPr/>
        </p:nvSpPr>
        <p:spPr>
          <a:xfrm>
            <a:off x="8503920" y="2560320"/>
            <a:ext cx="2926080" cy="777240"/>
          </a:xfrm>
          <a:prstGeom prst="rect">
            <a:avLst/>
          </a:prstGeom>
          <a:noFill/>
          <a:ln/>
        </p:spPr>
        <p:txBody>
          <a:bodyPr wrap="square" lIns="0" tIns="0" rIns="0" bIns="0" rtlCol="0" anchor="ctr"/>
          <a:lstStyle/>
          <a:p>
            <a:pPr indent="0" marL="0">
              <a:buNone/>
            </a:pPr>
            <a:r>
              <a:rPr lang="en-US" sz="4400" b="1" dirty="0">
                <a:solidFill>
                  <a:srgbClr val="D9622B"/>
                </a:solidFill>
                <a:latin typeface="Cambria" pitchFamily="34" charset="0"/>
                <a:ea typeface="Cambria" pitchFamily="34" charset="-122"/>
                <a:cs typeface="Cambria" pitchFamily="34" charset="-120"/>
              </a:rPr>
              <a:t>0.8149</a:t>
            </a:r>
            <a:endParaRPr lang="en-US" sz="4400" dirty="0"/>
          </a:p>
        </p:txBody>
      </p:sp>
      <p:sp>
        <p:nvSpPr>
          <p:cNvPr id="8" name="Text 4"/>
          <p:cNvSpPr txBox="1"/>
          <p:nvPr/>
        </p:nvSpPr>
        <p:spPr>
          <a:xfrm>
            <a:off x="8503920" y="3383280"/>
            <a:ext cx="2926080" cy="502920"/>
          </a:xfrm>
          <a:prstGeom prst="rect">
            <a:avLst/>
          </a:prstGeom>
          <a:noFill/>
          <a:ln/>
        </p:spPr>
        <p:txBody>
          <a:bodyPr wrap="square" lIns="0" tIns="0" rIns="0" bIns="0" rtlCol="0" anchor="t"/>
          <a:lstStyle/>
          <a:p>
            <a:pPr indent="0" marL="0">
              <a:buNone/>
            </a:pPr>
            <a:r>
              <a:rPr lang="en-US" sz="1400" dirty="0">
                <a:solidFill>
                  <a:srgbClr val="3B444C"/>
                </a:solidFill>
                <a:latin typeface="Calibri" pitchFamily="34" charset="0"/>
                <a:ea typeface="Calibri" pitchFamily="34" charset="-122"/>
                <a:cs typeface="Calibri" pitchFamily="34" charset="-120"/>
              </a:rPr>
              <a:t>IDH promedio del grupo. Perú: 0.6621</a:t>
            </a:r>
            <a:endParaRPr lang="en-US" sz="1400" dirty="0"/>
          </a:p>
        </p:txBody>
      </p:sp>
      <p:sp>
        <p:nvSpPr>
          <p:cNvPr id="9" name="Shape 5"/>
          <p:cNvSpPr/>
          <p:nvPr/>
        </p:nvSpPr>
        <p:spPr>
          <a:xfrm>
            <a:off x="8503920" y="4050792"/>
            <a:ext cx="182880" cy="182880"/>
          </a:xfrm>
          <a:prstGeom prst="ellipse">
            <a:avLst/>
          </a:prstGeom>
          <a:solidFill>
            <a:srgbClr val="2E6E73"/>
          </a:solidFill>
          <a:ln/>
        </p:spPr>
      </p:sp>
      <p:sp>
        <p:nvSpPr>
          <p:cNvPr id="10" name="Text 6"/>
          <p:cNvSpPr txBox="1"/>
          <p:nvPr/>
        </p:nvSpPr>
        <p:spPr>
          <a:xfrm>
            <a:off x="8796528" y="3977640"/>
            <a:ext cx="2697480" cy="502920"/>
          </a:xfrm>
          <a:prstGeom prst="rect">
            <a:avLst/>
          </a:prstGeom>
          <a:noFill/>
          <a:ln/>
        </p:spPr>
        <p:txBody>
          <a:bodyPr wrap="square" lIns="0" tIns="0" rIns="0" bIns="0" rtlCol="0" anchor="t"/>
          <a:lstStyle/>
          <a:p>
            <a:pPr indent="0" marL="0">
              <a:buNone/>
            </a:pPr>
            <a:r>
              <a:rPr lang="en-US" sz="1300" b="1" dirty="0">
                <a:solidFill>
                  <a:srgbClr val="3B444C"/>
                </a:solidFill>
                <a:latin typeface="Calibri" pitchFamily="34" charset="0"/>
                <a:ea typeface="Calibri" pitchFamily="34" charset="-122"/>
                <a:cs typeface="Calibri" pitchFamily="34" charset="-120"/>
              </a:rPr>
              <a:t>Alto (0.800 a 1.000):</a:t>
            </a:r>
            <a:r>
              <a:rPr lang="en-US" sz="1300" dirty="0">
                <a:solidFill>
                  <a:srgbClr val="3B444C"/>
                </a:solidFill>
                <a:latin typeface="Calibri" pitchFamily="34" charset="0"/>
                <a:ea typeface="Calibri" pitchFamily="34" charset="-122"/>
                <a:cs typeface="Calibri" pitchFamily="34" charset="-120"/>
              </a:rPr>
              <a:t> 15 participantes</a:t>
            </a:r>
            <a:endParaRPr lang="en-US" sz="1300" dirty="0"/>
          </a:p>
        </p:txBody>
      </p:sp>
      <p:sp>
        <p:nvSpPr>
          <p:cNvPr id="11" name="Shape 7"/>
          <p:cNvSpPr/>
          <p:nvPr/>
        </p:nvSpPr>
        <p:spPr>
          <a:xfrm>
            <a:off x="8503920" y="4599432"/>
            <a:ext cx="182880" cy="182880"/>
          </a:xfrm>
          <a:prstGeom prst="ellipse">
            <a:avLst/>
          </a:prstGeom>
          <a:solidFill>
            <a:srgbClr val="D9622B"/>
          </a:solidFill>
          <a:ln/>
        </p:spPr>
      </p:sp>
      <p:sp>
        <p:nvSpPr>
          <p:cNvPr id="12" name="Text 8"/>
          <p:cNvSpPr txBox="1"/>
          <p:nvPr/>
        </p:nvSpPr>
        <p:spPr>
          <a:xfrm>
            <a:off x="8796528" y="4526280"/>
            <a:ext cx="2697480" cy="502920"/>
          </a:xfrm>
          <a:prstGeom prst="rect">
            <a:avLst/>
          </a:prstGeom>
          <a:noFill/>
          <a:ln/>
        </p:spPr>
        <p:txBody>
          <a:bodyPr wrap="square" lIns="0" tIns="0" rIns="0" bIns="0" rtlCol="0" anchor="t"/>
          <a:lstStyle/>
          <a:p>
            <a:pPr indent="0" marL="0">
              <a:buNone/>
            </a:pPr>
            <a:r>
              <a:rPr lang="en-US" sz="1300" b="1" dirty="0">
                <a:solidFill>
                  <a:srgbClr val="3B444C"/>
                </a:solidFill>
                <a:latin typeface="Calibri" pitchFamily="34" charset="0"/>
                <a:ea typeface="Calibri" pitchFamily="34" charset="-122"/>
                <a:cs typeface="Calibri" pitchFamily="34" charset="-120"/>
              </a:rPr>
              <a:t>Mediano Alto (0.700 a 0.799):</a:t>
            </a:r>
            <a:r>
              <a:rPr lang="en-US" sz="1300" dirty="0">
                <a:solidFill>
                  <a:srgbClr val="3B444C"/>
                </a:solidFill>
                <a:latin typeface="Calibri" pitchFamily="34" charset="0"/>
                <a:ea typeface="Calibri" pitchFamily="34" charset="-122"/>
                <a:cs typeface="Calibri" pitchFamily="34" charset="-120"/>
              </a:rPr>
              <a:t> 5 participantes</a:t>
            </a:r>
            <a:endParaRPr lang="en-US" sz="1300" dirty="0"/>
          </a:p>
        </p:txBody>
      </p:sp>
      <p:sp>
        <p:nvSpPr>
          <p:cNvPr id="13" name="Text 9"/>
          <p:cNvSpPr txBox="1"/>
          <p:nvPr/>
        </p:nvSpPr>
        <p:spPr>
          <a:xfrm>
            <a:off x="8503920" y="5166360"/>
            <a:ext cx="2926080" cy="685800"/>
          </a:xfrm>
          <a:prstGeom prst="rect">
            <a:avLst/>
          </a:prstGeom>
          <a:noFill/>
          <a:ln/>
        </p:spPr>
        <p:txBody>
          <a:bodyPr wrap="square" lIns="0" tIns="0" rIns="0" bIns="0" rtlCol="0" anchor="t"/>
          <a:lstStyle/>
          <a:p>
            <a:pPr indent="0" marL="0">
              <a:buNone/>
            </a:pPr>
            <a:r>
              <a:rPr lang="en-US" sz="1200" i="1" dirty="0">
                <a:solidFill>
                  <a:srgbClr val="6B747B"/>
                </a:solidFill>
                <a:latin typeface="Calibri" pitchFamily="34" charset="0"/>
                <a:ea typeface="Calibri" pitchFamily="34" charset="-122"/>
                <a:cs typeface="Calibri" pitchFamily="34" charset="-120"/>
              </a:rPr>
              <a:t>Hay dos participantes con las iniciales V.T: una en Surco y otro en Chorrillos.</a:t>
            </a:r>
            <a:endParaRPr lang="en-US" sz="12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El estrés según el género</a:t>
            </a:r>
            <a:endParaRPr lang="en-US" sz="2600" dirty="0"/>
          </a:p>
        </p:txBody>
      </p:sp>
      <p:sp>
        <p:nvSpPr>
          <p:cNvPr id="3" name="Tarjeta Mujeres (12)"/>
          <p:cNvSpPr/>
          <p:nvPr/>
        </p:nvSpPr>
        <p:spPr>
          <a:xfrm>
            <a:off x="548640" y="1508760"/>
            <a:ext cx="5362956" cy="4434840"/>
          </a:xfrm>
          <a:prstGeom prst="roundRect">
            <a:avLst>
              <a:gd name="adj" fmla="val 2474"/>
            </a:avLst>
          </a:prstGeom>
          <a:solidFill>
            <a:srgbClr val="F3F4F4"/>
          </a:solidFill>
          <a:ln/>
        </p:spPr>
      </p:sp>
      <p:sp>
        <p:nvSpPr>
          <p:cNvPr id="4" name="Ícono Mujeres (12) círculo"/>
          <p:cNvSpPr/>
          <p:nvPr/>
        </p:nvSpPr>
        <p:spPr>
          <a:xfrm>
            <a:off x="868680" y="1737360"/>
            <a:ext cx="685800" cy="685800"/>
          </a:xfrm>
          <a:prstGeom prst="ellipse">
            <a:avLst/>
          </a:prstGeom>
          <a:solidFill>
            <a:srgbClr val="D9622B"/>
          </a:solidFill>
          <a:ln/>
        </p:spPr>
      </p:sp>
      <p:pic>
        <p:nvPicPr>
          <p:cNvPr id="5" name="Ícono Mujeres (12)" descr="preencoded.png">    </p:cNvPr>
          <p:cNvPicPr>
            <a:picLocks noChangeAspect="1"/>
          </p:cNvPicPr>
          <p:nvPr/>
        </p:nvPicPr>
        <p:blipFill>
          <a:blip r:embed="rId1"/>
          <a:stretch>
            <a:fillRect/>
          </a:stretch>
        </p:blipFill>
        <p:spPr>
          <a:xfrm>
            <a:off x="1026414" y="1895094"/>
            <a:ext cx="370332" cy="370332"/>
          </a:xfrm>
          <a:prstGeom prst="rect">
            <a:avLst/>
          </a:prstGeom>
        </p:spPr>
      </p:pic>
      <p:sp>
        <p:nvSpPr>
          <p:cNvPr id="6" name="Text 3"/>
          <p:cNvSpPr txBox="1"/>
          <p:nvPr/>
        </p:nvSpPr>
        <p:spPr>
          <a:xfrm>
            <a:off x="1737360" y="1737360"/>
            <a:ext cx="3899916" cy="685800"/>
          </a:xfrm>
          <a:prstGeom prst="rect">
            <a:avLst/>
          </a:prstGeom>
          <a:noFill/>
          <a:ln/>
        </p:spPr>
        <p:txBody>
          <a:bodyPr wrap="square" lIns="0" tIns="0" rIns="0" bIns="0" rtlCol="0" anchor="ctr"/>
          <a:lstStyle/>
          <a:p>
            <a:pPr indent="0" marL="0">
              <a:buNone/>
            </a:pPr>
            <a:r>
              <a:rPr lang="en-US" sz="2000" b="1" dirty="0">
                <a:solidFill>
                  <a:srgbClr val="D9622B"/>
                </a:solidFill>
                <a:latin typeface="Cambria" pitchFamily="34" charset="0"/>
                <a:ea typeface="Cambria" pitchFamily="34" charset="-122"/>
                <a:cs typeface="Cambria" pitchFamily="34" charset="-120"/>
              </a:rPr>
              <a:t>Mujeres (12)</a:t>
            </a:r>
            <a:endParaRPr lang="en-US" sz="2000" dirty="0"/>
          </a:p>
        </p:txBody>
      </p:sp>
      <p:sp>
        <p:nvSpPr>
          <p:cNvPr id="7" name="Text 4"/>
          <p:cNvSpPr txBox="1"/>
          <p:nvPr/>
        </p:nvSpPr>
        <p:spPr>
          <a:xfrm>
            <a:off x="868680" y="2697480"/>
            <a:ext cx="1600200" cy="640080"/>
          </a:xfrm>
          <a:prstGeom prst="rect">
            <a:avLst/>
          </a:prstGeom>
          <a:noFill/>
          <a:ln/>
        </p:spPr>
        <p:txBody>
          <a:bodyPr wrap="square" lIns="0" tIns="0" rIns="0" bIns="0" rtlCol="0" anchor="ctr"/>
          <a:lstStyle/>
          <a:p>
            <a:pPr indent="0" marL="0">
              <a:buNone/>
            </a:pPr>
            <a:r>
              <a:rPr lang="en-US" sz="2600" b="1" dirty="0">
                <a:solidFill>
                  <a:srgbClr val="D9622B"/>
                </a:solidFill>
                <a:latin typeface="Cambria" pitchFamily="34" charset="0"/>
                <a:ea typeface="Cambria" pitchFamily="34" charset="-122"/>
                <a:cs typeface="Cambria" pitchFamily="34" charset="-120"/>
              </a:rPr>
              <a:t>8/12</a:t>
            </a:r>
            <a:endParaRPr lang="en-US" sz="2600" dirty="0"/>
          </a:p>
        </p:txBody>
      </p:sp>
      <p:sp>
        <p:nvSpPr>
          <p:cNvPr id="8" name="Text 5"/>
          <p:cNvSpPr txBox="1"/>
          <p:nvPr/>
        </p:nvSpPr>
        <p:spPr>
          <a:xfrm>
            <a:off x="2560320" y="2697480"/>
            <a:ext cx="3076956" cy="640080"/>
          </a:xfrm>
          <a:prstGeom prst="rect">
            <a:avLst/>
          </a:prstGeom>
          <a:noFill/>
          <a:ln/>
        </p:spPr>
        <p:txBody>
          <a:bodyPr wrap="square" lIns="0" tIns="0" rIns="0" bIns="0" rtlCol="0" anchor="ctr"/>
          <a:lstStyle/>
          <a:p>
            <a:pPr indent="0" marL="0">
              <a:buNone/>
            </a:pPr>
            <a:r>
              <a:rPr lang="en-US" sz="1500" dirty="0">
                <a:solidFill>
                  <a:srgbClr val="3B444C"/>
                </a:solidFill>
                <a:latin typeface="Calibri" pitchFamily="34" charset="0"/>
                <a:ea typeface="Calibri" pitchFamily="34" charset="-122"/>
                <a:cs typeface="Calibri" pitchFamily="34" charset="-120"/>
              </a:rPr>
              <a:t>Estrés por el trabajo, combinado con la universidad</a:t>
            </a:r>
            <a:endParaRPr lang="en-US" sz="1500" dirty="0"/>
          </a:p>
        </p:txBody>
      </p:sp>
      <p:sp>
        <p:nvSpPr>
          <p:cNvPr id="9" name="Text 6"/>
          <p:cNvSpPr txBox="1"/>
          <p:nvPr/>
        </p:nvSpPr>
        <p:spPr>
          <a:xfrm>
            <a:off x="868680" y="3483864"/>
            <a:ext cx="1600200" cy="640080"/>
          </a:xfrm>
          <a:prstGeom prst="rect">
            <a:avLst/>
          </a:prstGeom>
          <a:noFill/>
          <a:ln/>
        </p:spPr>
        <p:txBody>
          <a:bodyPr wrap="square" lIns="0" tIns="0" rIns="0" bIns="0" rtlCol="0" anchor="ctr"/>
          <a:lstStyle/>
          <a:p>
            <a:pPr indent="0" marL="0">
              <a:buNone/>
            </a:pPr>
            <a:r>
              <a:rPr lang="en-US" sz="1500" b="1" dirty="0">
                <a:solidFill>
                  <a:srgbClr val="D9622B"/>
                </a:solidFill>
                <a:latin typeface="Cambria" pitchFamily="34" charset="0"/>
                <a:ea typeface="Cambria" pitchFamily="34" charset="-122"/>
                <a:cs typeface="Cambria" pitchFamily="34" charset="-120"/>
              </a:rPr>
              <a:t>Hacia adentro</a:t>
            </a:r>
            <a:endParaRPr lang="en-US" sz="1500" dirty="0"/>
          </a:p>
        </p:txBody>
      </p:sp>
      <p:sp>
        <p:nvSpPr>
          <p:cNvPr id="10" name="Text 7"/>
          <p:cNvSpPr txBox="1"/>
          <p:nvPr/>
        </p:nvSpPr>
        <p:spPr>
          <a:xfrm>
            <a:off x="2560320" y="3483864"/>
            <a:ext cx="3076956" cy="640080"/>
          </a:xfrm>
          <a:prstGeom prst="rect">
            <a:avLst/>
          </a:prstGeom>
          <a:noFill/>
          <a:ln/>
        </p:spPr>
        <p:txBody>
          <a:bodyPr wrap="square" lIns="0" tIns="0" rIns="0" bIns="0" rtlCol="0" anchor="ctr"/>
          <a:lstStyle/>
          <a:p>
            <a:pPr indent="0" marL="0">
              <a:buNone/>
            </a:pPr>
            <a:r>
              <a:rPr lang="en-US" sz="1500" dirty="0">
                <a:solidFill>
                  <a:srgbClr val="3B444C"/>
                </a:solidFill>
                <a:latin typeface="Calibri" pitchFamily="34" charset="0"/>
                <a:ea typeface="Calibri" pitchFamily="34" charset="-122"/>
                <a:cs typeface="Calibri" pitchFamily="34" charset="-120"/>
              </a:rPr>
              <a:t>Sueño, alimentación, piel y tristeza</a:t>
            </a:r>
            <a:endParaRPr lang="en-US" sz="1500" dirty="0"/>
          </a:p>
        </p:txBody>
      </p:sp>
      <p:sp>
        <p:nvSpPr>
          <p:cNvPr id="11" name="Text 8"/>
          <p:cNvSpPr txBox="1"/>
          <p:nvPr/>
        </p:nvSpPr>
        <p:spPr>
          <a:xfrm>
            <a:off x="868680" y="4270248"/>
            <a:ext cx="1600200" cy="640080"/>
          </a:xfrm>
          <a:prstGeom prst="rect">
            <a:avLst/>
          </a:prstGeom>
          <a:noFill/>
          <a:ln/>
        </p:spPr>
        <p:txBody>
          <a:bodyPr wrap="square" lIns="0" tIns="0" rIns="0" bIns="0" rtlCol="0" anchor="ctr"/>
          <a:lstStyle/>
          <a:p>
            <a:pPr indent="0" marL="0">
              <a:buNone/>
            </a:pPr>
            <a:r>
              <a:rPr lang="en-US" sz="2600" b="1" dirty="0">
                <a:solidFill>
                  <a:srgbClr val="D9622B"/>
                </a:solidFill>
                <a:latin typeface="Cambria" pitchFamily="34" charset="0"/>
                <a:ea typeface="Cambria" pitchFamily="34" charset="-122"/>
                <a:cs typeface="Cambria" pitchFamily="34" charset="-120"/>
              </a:rPr>
              <a:t>9/12</a:t>
            </a:r>
            <a:endParaRPr lang="en-US" sz="2600" dirty="0"/>
          </a:p>
        </p:txBody>
      </p:sp>
      <p:sp>
        <p:nvSpPr>
          <p:cNvPr id="12" name="Text 9"/>
          <p:cNvSpPr txBox="1"/>
          <p:nvPr/>
        </p:nvSpPr>
        <p:spPr>
          <a:xfrm>
            <a:off x="2560320" y="4270248"/>
            <a:ext cx="3076956" cy="640080"/>
          </a:xfrm>
          <a:prstGeom prst="rect">
            <a:avLst/>
          </a:prstGeom>
          <a:noFill/>
          <a:ln/>
        </p:spPr>
        <p:txBody>
          <a:bodyPr wrap="square" lIns="0" tIns="0" rIns="0" bIns="0" rtlCol="0" anchor="ctr"/>
          <a:lstStyle/>
          <a:p>
            <a:pPr indent="0" marL="0">
              <a:buNone/>
            </a:pPr>
            <a:r>
              <a:rPr lang="en-US" sz="1500" dirty="0">
                <a:solidFill>
                  <a:srgbClr val="3B444C"/>
                </a:solidFill>
                <a:latin typeface="Calibri" pitchFamily="34" charset="0"/>
                <a:ea typeface="Calibri" pitchFamily="34" charset="-122"/>
                <a:cs typeface="Calibri" pitchFamily="34" charset="-120"/>
              </a:rPr>
              <a:t>Alcohol social, a veces para desestresarse</a:t>
            </a:r>
            <a:endParaRPr lang="en-US" sz="1500" dirty="0"/>
          </a:p>
        </p:txBody>
      </p:sp>
      <p:sp>
        <p:nvSpPr>
          <p:cNvPr id="13" name="Text 10"/>
          <p:cNvSpPr txBox="1"/>
          <p:nvPr/>
        </p:nvSpPr>
        <p:spPr>
          <a:xfrm>
            <a:off x="868680" y="5056632"/>
            <a:ext cx="1600200" cy="640080"/>
          </a:xfrm>
          <a:prstGeom prst="rect">
            <a:avLst/>
          </a:prstGeom>
          <a:noFill/>
          <a:ln/>
        </p:spPr>
        <p:txBody>
          <a:bodyPr wrap="square" lIns="0" tIns="0" rIns="0" bIns="0" rtlCol="0" anchor="ctr"/>
          <a:lstStyle/>
          <a:p>
            <a:pPr indent="0" marL="0">
              <a:buNone/>
            </a:pPr>
            <a:r>
              <a:rPr lang="en-US" sz="2600" b="1" dirty="0">
                <a:solidFill>
                  <a:srgbClr val="D9622B"/>
                </a:solidFill>
                <a:latin typeface="Cambria" pitchFamily="34" charset="0"/>
                <a:ea typeface="Cambria" pitchFamily="34" charset="-122"/>
                <a:cs typeface="Cambria" pitchFamily="34" charset="-120"/>
              </a:rPr>
              <a:t>7/12</a:t>
            </a:r>
            <a:endParaRPr lang="en-US" sz="2600" dirty="0"/>
          </a:p>
        </p:txBody>
      </p:sp>
      <p:sp>
        <p:nvSpPr>
          <p:cNvPr id="14" name="Text 11"/>
          <p:cNvSpPr txBox="1"/>
          <p:nvPr/>
        </p:nvSpPr>
        <p:spPr>
          <a:xfrm>
            <a:off x="2560320" y="5056632"/>
            <a:ext cx="3076956" cy="640080"/>
          </a:xfrm>
          <a:prstGeom prst="rect">
            <a:avLst/>
          </a:prstGeom>
          <a:noFill/>
          <a:ln/>
        </p:spPr>
        <p:txBody>
          <a:bodyPr wrap="square" lIns="0" tIns="0" rIns="0" bIns="0" rtlCol="0" anchor="ctr"/>
          <a:lstStyle/>
          <a:p>
            <a:pPr indent="0" marL="0">
              <a:buNone/>
            </a:pPr>
            <a:r>
              <a:rPr lang="en-US" sz="1500" dirty="0">
                <a:solidFill>
                  <a:srgbClr val="3B444C"/>
                </a:solidFill>
                <a:latin typeface="Calibri" pitchFamily="34" charset="0"/>
                <a:ea typeface="Calibri" pitchFamily="34" charset="-122"/>
                <a:cs typeface="Calibri" pitchFamily="34" charset="-120"/>
              </a:rPr>
              <a:t>Sueño insuficiente o irregular</a:t>
            </a:r>
            <a:endParaRPr lang="en-US" sz="1500" dirty="0"/>
          </a:p>
        </p:txBody>
      </p:sp>
      <p:sp>
        <p:nvSpPr>
          <p:cNvPr id="15" name="Tarjeta Varones (8)"/>
          <p:cNvSpPr/>
          <p:nvPr/>
        </p:nvSpPr>
        <p:spPr>
          <a:xfrm>
            <a:off x="6277356" y="1508760"/>
            <a:ext cx="5362956" cy="4434840"/>
          </a:xfrm>
          <a:prstGeom prst="roundRect">
            <a:avLst>
              <a:gd name="adj" fmla="val 2474"/>
            </a:avLst>
          </a:prstGeom>
          <a:solidFill>
            <a:srgbClr val="F3F4F4"/>
          </a:solidFill>
          <a:ln/>
        </p:spPr>
      </p:sp>
      <p:sp>
        <p:nvSpPr>
          <p:cNvPr id="16" name="Ícono Varones (8) círculo"/>
          <p:cNvSpPr/>
          <p:nvPr/>
        </p:nvSpPr>
        <p:spPr>
          <a:xfrm>
            <a:off x="6597396" y="1737360"/>
            <a:ext cx="685800" cy="685800"/>
          </a:xfrm>
          <a:prstGeom prst="ellipse">
            <a:avLst/>
          </a:prstGeom>
          <a:solidFill>
            <a:srgbClr val="2E6E73"/>
          </a:solidFill>
          <a:ln/>
        </p:spPr>
      </p:sp>
      <p:pic>
        <p:nvPicPr>
          <p:cNvPr id="17" name="Ícono Varones (8)" descr="preencoded.png">    </p:cNvPr>
          <p:cNvPicPr>
            <a:picLocks noChangeAspect="1"/>
          </p:cNvPicPr>
          <p:nvPr/>
        </p:nvPicPr>
        <p:blipFill>
          <a:blip r:embed="rId2"/>
          <a:stretch>
            <a:fillRect/>
          </a:stretch>
        </p:blipFill>
        <p:spPr>
          <a:xfrm>
            <a:off x="6755130" y="1895094"/>
            <a:ext cx="370332" cy="370332"/>
          </a:xfrm>
          <a:prstGeom prst="rect">
            <a:avLst/>
          </a:prstGeom>
        </p:spPr>
      </p:pic>
      <p:sp>
        <p:nvSpPr>
          <p:cNvPr id="18" name="Text 14"/>
          <p:cNvSpPr txBox="1"/>
          <p:nvPr/>
        </p:nvSpPr>
        <p:spPr>
          <a:xfrm>
            <a:off x="7466076" y="1737360"/>
            <a:ext cx="3899916" cy="685800"/>
          </a:xfrm>
          <a:prstGeom prst="rect">
            <a:avLst/>
          </a:prstGeom>
          <a:noFill/>
          <a:ln/>
        </p:spPr>
        <p:txBody>
          <a:bodyPr wrap="square" lIns="0" tIns="0" rIns="0" bIns="0" rtlCol="0" anchor="ctr"/>
          <a:lstStyle/>
          <a:p>
            <a:pPr indent="0" marL="0">
              <a:buNone/>
            </a:pPr>
            <a:r>
              <a:rPr lang="en-US" sz="2000" b="1" dirty="0">
                <a:solidFill>
                  <a:srgbClr val="2E6E73"/>
                </a:solidFill>
                <a:latin typeface="Cambria" pitchFamily="34" charset="0"/>
                <a:ea typeface="Cambria" pitchFamily="34" charset="-122"/>
                <a:cs typeface="Cambria" pitchFamily="34" charset="-120"/>
              </a:rPr>
              <a:t>Varones (8)</a:t>
            </a:r>
            <a:endParaRPr lang="en-US" sz="2000" dirty="0"/>
          </a:p>
        </p:txBody>
      </p:sp>
      <p:sp>
        <p:nvSpPr>
          <p:cNvPr id="19" name="Text 15"/>
          <p:cNvSpPr txBox="1"/>
          <p:nvPr/>
        </p:nvSpPr>
        <p:spPr>
          <a:xfrm>
            <a:off x="6597396" y="2697480"/>
            <a:ext cx="1600200" cy="640080"/>
          </a:xfrm>
          <a:prstGeom prst="rect">
            <a:avLst/>
          </a:prstGeom>
          <a:noFill/>
          <a:ln/>
        </p:spPr>
        <p:txBody>
          <a:bodyPr wrap="square" lIns="0" tIns="0" rIns="0" bIns="0" rtlCol="0" anchor="ctr"/>
          <a:lstStyle/>
          <a:p>
            <a:pPr indent="0" marL="0">
              <a:buNone/>
            </a:pPr>
            <a:r>
              <a:rPr lang="en-US" sz="2600" b="1" dirty="0">
                <a:solidFill>
                  <a:srgbClr val="2E6E73"/>
                </a:solidFill>
                <a:latin typeface="Cambria" pitchFamily="34" charset="0"/>
                <a:ea typeface="Cambria" pitchFamily="34" charset="-122"/>
                <a:cs typeface="Cambria" pitchFamily="34" charset="-120"/>
              </a:rPr>
              <a:t>6/8</a:t>
            </a:r>
            <a:endParaRPr lang="en-US" sz="2600" dirty="0"/>
          </a:p>
        </p:txBody>
      </p:sp>
      <p:sp>
        <p:nvSpPr>
          <p:cNvPr id="20" name="Text 16"/>
          <p:cNvSpPr txBox="1"/>
          <p:nvPr/>
        </p:nvSpPr>
        <p:spPr>
          <a:xfrm>
            <a:off x="8289036" y="2697480"/>
            <a:ext cx="3076956" cy="640080"/>
          </a:xfrm>
          <a:prstGeom prst="rect">
            <a:avLst/>
          </a:prstGeom>
          <a:noFill/>
          <a:ln/>
        </p:spPr>
        <p:txBody>
          <a:bodyPr wrap="square" lIns="0" tIns="0" rIns="0" bIns="0" rtlCol="0" anchor="ctr"/>
          <a:lstStyle/>
          <a:p>
            <a:pPr indent="0" marL="0">
              <a:buNone/>
            </a:pPr>
            <a:r>
              <a:rPr lang="en-US" sz="1500" dirty="0">
                <a:solidFill>
                  <a:srgbClr val="3B444C"/>
                </a:solidFill>
                <a:latin typeface="Calibri" pitchFamily="34" charset="0"/>
                <a:ea typeface="Calibri" pitchFamily="34" charset="-122"/>
                <a:cs typeface="Calibri" pitchFamily="34" charset="-120"/>
              </a:rPr>
              <a:t>Estrés académico, y en 2 casos familiar</a:t>
            </a:r>
            <a:endParaRPr lang="en-US" sz="1500" dirty="0"/>
          </a:p>
        </p:txBody>
      </p:sp>
      <p:sp>
        <p:nvSpPr>
          <p:cNvPr id="21" name="Text 17"/>
          <p:cNvSpPr txBox="1"/>
          <p:nvPr/>
        </p:nvSpPr>
        <p:spPr>
          <a:xfrm>
            <a:off x="6597396" y="3483864"/>
            <a:ext cx="1600200" cy="640080"/>
          </a:xfrm>
          <a:prstGeom prst="rect">
            <a:avLst/>
          </a:prstGeom>
          <a:noFill/>
          <a:ln/>
        </p:spPr>
        <p:txBody>
          <a:bodyPr wrap="square" lIns="0" tIns="0" rIns="0" bIns="0" rtlCol="0" anchor="ctr"/>
          <a:lstStyle/>
          <a:p>
            <a:pPr indent="0" marL="0">
              <a:buNone/>
            </a:pPr>
            <a:r>
              <a:rPr lang="en-US" sz="1500" b="1" dirty="0">
                <a:solidFill>
                  <a:srgbClr val="2E6E73"/>
                </a:solidFill>
                <a:latin typeface="Cambria" pitchFamily="34" charset="0"/>
                <a:ea typeface="Cambria" pitchFamily="34" charset="-122"/>
                <a:cs typeface="Cambria" pitchFamily="34" charset="-120"/>
              </a:rPr>
              <a:t>En la conducta</a:t>
            </a:r>
            <a:endParaRPr lang="en-US" sz="1500" dirty="0"/>
          </a:p>
        </p:txBody>
      </p:sp>
      <p:sp>
        <p:nvSpPr>
          <p:cNvPr id="22" name="Text 18"/>
          <p:cNvSpPr txBox="1"/>
          <p:nvPr/>
        </p:nvSpPr>
        <p:spPr>
          <a:xfrm>
            <a:off x="8289036" y="3483864"/>
            <a:ext cx="3076956" cy="640080"/>
          </a:xfrm>
          <a:prstGeom prst="rect">
            <a:avLst/>
          </a:prstGeom>
          <a:noFill/>
          <a:ln/>
        </p:spPr>
        <p:txBody>
          <a:bodyPr wrap="square" lIns="0" tIns="0" rIns="0" bIns="0" rtlCol="0" anchor="ctr"/>
          <a:lstStyle/>
          <a:p>
            <a:pPr indent="0" marL="0">
              <a:buNone/>
            </a:pPr>
            <a:r>
              <a:rPr lang="en-US" sz="1500" dirty="0">
                <a:solidFill>
                  <a:srgbClr val="3B444C"/>
                </a:solidFill>
                <a:latin typeface="Calibri" pitchFamily="34" charset="0"/>
                <a:ea typeface="Calibri" pitchFamily="34" charset="-122"/>
                <a:cs typeface="Calibri" pitchFamily="34" charset="-120"/>
              </a:rPr>
              <a:t>Irritabilidad, aislamiento y autoexigencia física</a:t>
            </a:r>
            <a:endParaRPr lang="en-US" sz="1500" dirty="0"/>
          </a:p>
        </p:txBody>
      </p:sp>
      <p:sp>
        <p:nvSpPr>
          <p:cNvPr id="23" name="Text 19"/>
          <p:cNvSpPr txBox="1"/>
          <p:nvPr/>
        </p:nvSpPr>
        <p:spPr>
          <a:xfrm>
            <a:off x="6597396" y="4270248"/>
            <a:ext cx="1600200" cy="640080"/>
          </a:xfrm>
          <a:prstGeom prst="rect">
            <a:avLst/>
          </a:prstGeom>
          <a:noFill/>
          <a:ln/>
        </p:spPr>
        <p:txBody>
          <a:bodyPr wrap="square" lIns="0" tIns="0" rIns="0" bIns="0" rtlCol="0" anchor="ctr"/>
          <a:lstStyle/>
          <a:p>
            <a:pPr indent="0" marL="0">
              <a:buNone/>
            </a:pPr>
            <a:r>
              <a:rPr lang="en-US" sz="2600" b="1" dirty="0">
                <a:solidFill>
                  <a:srgbClr val="2E6E73"/>
                </a:solidFill>
                <a:latin typeface="Cambria" pitchFamily="34" charset="0"/>
                <a:ea typeface="Cambria" pitchFamily="34" charset="-122"/>
                <a:cs typeface="Cambria" pitchFamily="34" charset="-120"/>
              </a:rPr>
              <a:t>5/8</a:t>
            </a:r>
            <a:endParaRPr lang="en-US" sz="2600" dirty="0"/>
          </a:p>
        </p:txBody>
      </p:sp>
      <p:sp>
        <p:nvSpPr>
          <p:cNvPr id="24" name="Text 20"/>
          <p:cNvSpPr txBox="1"/>
          <p:nvPr/>
        </p:nvSpPr>
        <p:spPr>
          <a:xfrm>
            <a:off x="8289036" y="4270248"/>
            <a:ext cx="3076956" cy="640080"/>
          </a:xfrm>
          <a:prstGeom prst="rect">
            <a:avLst/>
          </a:prstGeom>
          <a:noFill/>
          <a:ln/>
        </p:spPr>
        <p:txBody>
          <a:bodyPr wrap="square" lIns="0" tIns="0" rIns="0" bIns="0" rtlCol="0" anchor="ctr"/>
          <a:lstStyle/>
          <a:p>
            <a:pPr indent="0" marL="0">
              <a:buNone/>
            </a:pPr>
            <a:r>
              <a:rPr lang="en-US" sz="1500" dirty="0">
                <a:solidFill>
                  <a:srgbClr val="3B444C"/>
                </a:solidFill>
                <a:latin typeface="Calibri" pitchFamily="34" charset="0"/>
                <a:ea typeface="Calibri" pitchFamily="34" charset="-122"/>
                <a:cs typeface="Calibri" pitchFamily="34" charset="-120"/>
              </a:rPr>
              <a:t>Alimentación poco saludable o restrictiva</a:t>
            </a:r>
            <a:endParaRPr lang="en-US" sz="1500" dirty="0"/>
          </a:p>
        </p:txBody>
      </p:sp>
      <p:sp>
        <p:nvSpPr>
          <p:cNvPr id="25" name="Text 21"/>
          <p:cNvSpPr txBox="1"/>
          <p:nvPr/>
        </p:nvSpPr>
        <p:spPr>
          <a:xfrm>
            <a:off x="6597396" y="5056632"/>
            <a:ext cx="1600200" cy="640080"/>
          </a:xfrm>
          <a:prstGeom prst="rect">
            <a:avLst/>
          </a:prstGeom>
          <a:noFill/>
          <a:ln/>
        </p:spPr>
        <p:txBody>
          <a:bodyPr wrap="square" lIns="0" tIns="0" rIns="0" bIns="0" rtlCol="0" anchor="ctr"/>
          <a:lstStyle/>
          <a:p>
            <a:pPr indent="0" marL="0">
              <a:buNone/>
            </a:pPr>
            <a:r>
              <a:rPr lang="en-US" sz="2600" b="1" dirty="0">
                <a:solidFill>
                  <a:srgbClr val="2E6E73"/>
                </a:solidFill>
                <a:latin typeface="Cambria" pitchFamily="34" charset="0"/>
                <a:ea typeface="Cambria" pitchFamily="34" charset="-122"/>
                <a:cs typeface="Cambria" pitchFamily="34" charset="-120"/>
              </a:rPr>
              <a:t>2/8</a:t>
            </a:r>
            <a:endParaRPr lang="en-US" sz="2600" dirty="0"/>
          </a:p>
        </p:txBody>
      </p:sp>
      <p:sp>
        <p:nvSpPr>
          <p:cNvPr id="26" name="Text 22"/>
          <p:cNvSpPr txBox="1"/>
          <p:nvPr/>
        </p:nvSpPr>
        <p:spPr>
          <a:xfrm>
            <a:off x="8289036" y="5056632"/>
            <a:ext cx="3076956" cy="640080"/>
          </a:xfrm>
          <a:prstGeom prst="rect">
            <a:avLst/>
          </a:prstGeom>
          <a:noFill/>
          <a:ln/>
        </p:spPr>
        <p:txBody>
          <a:bodyPr wrap="square" lIns="0" tIns="0" rIns="0" bIns="0" rtlCol="0" anchor="ctr"/>
          <a:lstStyle/>
          <a:p>
            <a:pPr indent="0" marL="0">
              <a:buNone/>
            </a:pPr>
            <a:r>
              <a:rPr lang="en-US" sz="1500" dirty="0">
                <a:solidFill>
                  <a:srgbClr val="3B444C"/>
                </a:solidFill>
                <a:latin typeface="Calibri" pitchFamily="34" charset="0"/>
                <a:ea typeface="Calibri" pitchFamily="34" charset="-122"/>
                <a:cs typeface="Calibri" pitchFamily="34" charset="-120"/>
              </a:rPr>
              <a:t>Ejercicio excesivo, uno con desmayo</a:t>
            </a:r>
            <a:endParaRPr lang="en-US" sz="15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Factor predominante en cada área</a:t>
            </a:r>
            <a:endParaRPr lang="en-US" sz="2600" dirty="0"/>
          </a:p>
        </p:txBody>
      </p:sp>
      <p:sp>
        <p:nvSpPr>
          <p:cNvPr id="3" name="Tarjeta DSS"/>
          <p:cNvSpPr/>
          <p:nvPr/>
        </p:nvSpPr>
        <p:spPr>
          <a:xfrm>
            <a:off x="548640" y="1508760"/>
            <a:ext cx="3453384" cy="2103120"/>
          </a:xfrm>
          <a:prstGeom prst="roundRect">
            <a:avLst>
              <a:gd name="adj" fmla="val 5217"/>
            </a:avLst>
          </a:prstGeom>
          <a:solidFill>
            <a:srgbClr val="F3F4F4"/>
          </a:solidFill>
          <a:ln/>
        </p:spPr>
      </p:sp>
      <p:sp>
        <p:nvSpPr>
          <p:cNvPr id="4" name="Ícono DSS círculo"/>
          <p:cNvSpPr/>
          <p:nvPr/>
        </p:nvSpPr>
        <p:spPr>
          <a:xfrm>
            <a:off x="822960" y="1783080"/>
            <a:ext cx="594360" cy="594360"/>
          </a:xfrm>
          <a:prstGeom prst="ellipse">
            <a:avLst/>
          </a:prstGeom>
          <a:solidFill>
            <a:srgbClr val="2E6E73"/>
          </a:solidFill>
          <a:ln/>
        </p:spPr>
      </p:sp>
      <p:pic>
        <p:nvPicPr>
          <p:cNvPr id="5" name="Ícono DSS" descr="preencoded.png">    </p:cNvPr>
          <p:cNvPicPr>
            <a:picLocks noChangeAspect="1"/>
          </p:cNvPicPr>
          <p:nvPr/>
        </p:nvPicPr>
        <p:blipFill>
          <a:blip r:embed="rId1"/>
          <a:stretch>
            <a:fillRect/>
          </a:stretch>
        </p:blipFill>
        <p:spPr>
          <a:xfrm>
            <a:off x="959663" y="1919783"/>
            <a:ext cx="320954" cy="320954"/>
          </a:xfrm>
          <a:prstGeom prst="rect">
            <a:avLst/>
          </a:prstGeom>
        </p:spPr>
      </p:pic>
      <p:sp>
        <p:nvSpPr>
          <p:cNvPr id="6" name="Text 3"/>
          <p:cNvSpPr txBox="1"/>
          <p:nvPr/>
        </p:nvSpPr>
        <p:spPr>
          <a:xfrm>
            <a:off x="1600200" y="1783080"/>
            <a:ext cx="2173224" cy="594360"/>
          </a:xfrm>
          <a:prstGeom prst="rect">
            <a:avLst/>
          </a:prstGeom>
          <a:noFill/>
          <a:ln/>
        </p:spPr>
        <p:txBody>
          <a:bodyPr wrap="square" lIns="0" tIns="0" rIns="0" bIns="0" rtlCol="0" anchor="ctr"/>
          <a:lstStyle/>
          <a:p>
            <a:pPr indent="0" marL="0">
              <a:buNone/>
            </a:pPr>
            <a:r>
              <a:rPr lang="en-US" sz="1700" b="1" dirty="0">
                <a:solidFill>
                  <a:srgbClr val="24313A"/>
                </a:solidFill>
                <a:latin typeface="Cambria" pitchFamily="34" charset="0"/>
                <a:ea typeface="Cambria" pitchFamily="34" charset="-122"/>
                <a:cs typeface="Cambria" pitchFamily="34" charset="-120"/>
              </a:rPr>
              <a:t>DSS</a:t>
            </a:r>
            <a:endParaRPr lang="en-US" sz="1700" dirty="0"/>
          </a:p>
        </p:txBody>
      </p:sp>
      <p:sp>
        <p:nvSpPr>
          <p:cNvPr id="7" name="Text 4"/>
          <p:cNvSpPr txBox="1"/>
          <p:nvPr/>
        </p:nvSpPr>
        <p:spPr>
          <a:xfrm>
            <a:off x="822960" y="2560320"/>
            <a:ext cx="2904744" cy="36576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Carga académica</a:t>
            </a:r>
            <a:endParaRPr lang="en-US" sz="1600" dirty="0"/>
          </a:p>
        </p:txBody>
      </p:sp>
      <p:sp>
        <p:nvSpPr>
          <p:cNvPr id="8" name="Text 5"/>
          <p:cNvSpPr txBox="1"/>
          <p:nvPr/>
        </p:nvSpPr>
        <p:spPr>
          <a:xfrm>
            <a:off x="822960" y="2926080"/>
            <a:ext cx="2904744" cy="502920"/>
          </a:xfrm>
          <a:prstGeom prst="rect">
            <a:avLst/>
          </a:prstGeom>
          <a:noFill/>
          <a:ln/>
        </p:spPr>
        <p:txBody>
          <a:bodyPr wrap="square" lIns="0" tIns="0" rIns="0" bIns="0" rtlCol="0" anchor="ctr"/>
          <a:lstStyle/>
          <a:p>
            <a:pPr indent="0" marL="0">
              <a:buNone/>
            </a:pPr>
            <a:r>
              <a:rPr lang="en-US" sz="2800" b="1" dirty="0">
                <a:solidFill>
                  <a:srgbClr val="24313A"/>
                </a:solidFill>
                <a:latin typeface="Cambria" pitchFamily="34" charset="0"/>
                <a:ea typeface="Cambria" pitchFamily="34" charset="-122"/>
                <a:cs typeface="Cambria" pitchFamily="34" charset="-120"/>
              </a:rPr>
              <a:t>13/20</a:t>
            </a:r>
            <a:endParaRPr lang="en-US" sz="2800" dirty="0"/>
          </a:p>
        </p:txBody>
      </p:sp>
      <p:sp>
        <p:nvSpPr>
          <p:cNvPr id="9" name="Tarjeta Rasgos"/>
          <p:cNvSpPr/>
          <p:nvPr/>
        </p:nvSpPr>
        <p:spPr>
          <a:xfrm>
            <a:off x="4367784" y="1508760"/>
            <a:ext cx="3453384" cy="2103120"/>
          </a:xfrm>
          <a:prstGeom prst="roundRect">
            <a:avLst>
              <a:gd name="adj" fmla="val 5217"/>
            </a:avLst>
          </a:prstGeom>
          <a:solidFill>
            <a:srgbClr val="F3F4F4"/>
          </a:solidFill>
          <a:ln/>
        </p:spPr>
      </p:sp>
      <p:sp>
        <p:nvSpPr>
          <p:cNvPr id="10" name="Ícono Rasgos círculo"/>
          <p:cNvSpPr/>
          <p:nvPr/>
        </p:nvSpPr>
        <p:spPr>
          <a:xfrm>
            <a:off x="4642104" y="1783080"/>
            <a:ext cx="594360" cy="594360"/>
          </a:xfrm>
          <a:prstGeom prst="ellipse">
            <a:avLst/>
          </a:prstGeom>
          <a:solidFill>
            <a:srgbClr val="2E6E73"/>
          </a:solidFill>
          <a:ln/>
        </p:spPr>
      </p:sp>
      <p:pic>
        <p:nvPicPr>
          <p:cNvPr id="11" name="Ícono Rasgos" descr="preencoded.png">    </p:cNvPr>
          <p:cNvPicPr>
            <a:picLocks noChangeAspect="1"/>
          </p:cNvPicPr>
          <p:nvPr/>
        </p:nvPicPr>
        <p:blipFill>
          <a:blip r:embed="rId2"/>
          <a:stretch>
            <a:fillRect/>
          </a:stretch>
        </p:blipFill>
        <p:spPr>
          <a:xfrm>
            <a:off x="4778807" y="1919783"/>
            <a:ext cx="320954" cy="320954"/>
          </a:xfrm>
          <a:prstGeom prst="rect">
            <a:avLst/>
          </a:prstGeom>
        </p:spPr>
      </p:pic>
      <p:sp>
        <p:nvSpPr>
          <p:cNvPr id="12" name="Text 8"/>
          <p:cNvSpPr txBox="1"/>
          <p:nvPr/>
        </p:nvSpPr>
        <p:spPr>
          <a:xfrm>
            <a:off x="5419344" y="1783080"/>
            <a:ext cx="2173224" cy="594360"/>
          </a:xfrm>
          <a:prstGeom prst="rect">
            <a:avLst/>
          </a:prstGeom>
          <a:noFill/>
          <a:ln/>
        </p:spPr>
        <p:txBody>
          <a:bodyPr wrap="square" lIns="0" tIns="0" rIns="0" bIns="0" rtlCol="0" anchor="ctr"/>
          <a:lstStyle/>
          <a:p>
            <a:pPr indent="0" marL="0">
              <a:buNone/>
            </a:pPr>
            <a:r>
              <a:rPr lang="en-US" sz="1700" b="1" dirty="0">
                <a:solidFill>
                  <a:srgbClr val="24313A"/>
                </a:solidFill>
                <a:latin typeface="Cambria" pitchFamily="34" charset="0"/>
                <a:ea typeface="Cambria" pitchFamily="34" charset="-122"/>
                <a:cs typeface="Cambria" pitchFamily="34" charset="-120"/>
              </a:rPr>
              <a:t>Rasgos</a:t>
            </a:r>
            <a:endParaRPr lang="en-US" sz="1700" dirty="0"/>
          </a:p>
        </p:txBody>
      </p:sp>
      <p:sp>
        <p:nvSpPr>
          <p:cNvPr id="13" name="Text 9"/>
          <p:cNvSpPr txBox="1"/>
          <p:nvPr/>
        </p:nvSpPr>
        <p:spPr>
          <a:xfrm>
            <a:off x="4642104" y="2560320"/>
            <a:ext cx="2904744" cy="36576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Responsabilidad</a:t>
            </a:r>
            <a:endParaRPr lang="en-US" sz="1600" dirty="0"/>
          </a:p>
        </p:txBody>
      </p:sp>
      <p:sp>
        <p:nvSpPr>
          <p:cNvPr id="14" name="Text 10"/>
          <p:cNvSpPr txBox="1"/>
          <p:nvPr/>
        </p:nvSpPr>
        <p:spPr>
          <a:xfrm>
            <a:off x="4642104" y="2926080"/>
            <a:ext cx="2904744" cy="502920"/>
          </a:xfrm>
          <a:prstGeom prst="rect">
            <a:avLst/>
          </a:prstGeom>
          <a:noFill/>
          <a:ln/>
        </p:spPr>
        <p:txBody>
          <a:bodyPr wrap="square" lIns="0" tIns="0" rIns="0" bIns="0" rtlCol="0" anchor="ctr"/>
          <a:lstStyle/>
          <a:p>
            <a:pPr indent="0" marL="0">
              <a:buNone/>
            </a:pPr>
            <a:r>
              <a:rPr lang="en-US" sz="2800" b="1" dirty="0">
                <a:solidFill>
                  <a:srgbClr val="24313A"/>
                </a:solidFill>
                <a:latin typeface="Cambria" pitchFamily="34" charset="0"/>
                <a:ea typeface="Cambria" pitchFamily="34" charset="-122"/>
                <a:cs typeface="Cambria" pitchFamily="34" charset="-120"/>
              </a:rPr>
              <a:t>7/20</a:t>
            </a:r>
            <a:endParaRPr lang="en-US" sz="2800" dirty="0"/>
          </a:p>
        </p:txBody>
      </p:sp>
      <p:sp>
        <p:nvSpPr>
          <p:cNvPr id="15" name="Tarjeta Riesgo"/>
          <p:cNvSpPr/>
          <p:nvPr/>
        </p:nvSpPr>
        <p:spPr>
          <a:xfrm>
            <a:off x="8186928" y="1508760"/>
            <a:ext cx="3453384" cy="2103120"/>
          </a:xfrm>
          <a:prstGeom prst="roundRect">
            <a:avLst>
              <a:gd name="adj" fmla="val 5217"/>
            </a:avLst>
          </a:prstGeom>
          <a:solidFill>
            <a:srgbClr val="F3F4F4"/>
          </a:solidFill>
          <a:ln/>
        </p:spPr>
      </p:sp>
      <p:sp>
        <p:nvSpPr>
          <p:cNvPr id="16" name="Ícono Riesgo círculo"/>
          <p:cNvSpPr/>
          <p:nvPr/>
        </p:nvSpPr>
        <p:spPr>
          <a:xfrm>
            <a:off x="8461248" y="1783080"/>
            <a:ext cx="594360" cy="594360"/>
          </a:xfrm>
          <a:prstGeom prst="ellipse">
            <a:avLst/>
          </a:prstGeom>
          <a:solidFill>
            <a:srgbClr val="2E6E73"/>
          </a:solidFill>
          <a:ln/>
        </p:spPr>
      </p:sp>
      <p:pic>
        <p:nvPicPr>
          <p:cNvPr id="17" name="Ícono Riesgo" descr="preencoded.png">    </p:cNvPr>
          <p:cNvPicPr>
            <a:picLocks noChangeAspect="1"/>
          </p:cNvPicPr>
          <p:nvPr/>
        </p:nvPicPr>
        <p:blipFill>
          <a:blip r:embed="rId3"/>
          <a:stretch>
            <a:fillRect/>
          </a:stretch>
        </p:blipFill>
        <p:spPr>
          <a:xfrm>
            <a:off x="8597951" y="1919783"/>
            <a:ext cx="320954" cy="320954"/>
          </a:xfrm>
          <a:prstGeom prst="rect">
            <a:avLst/>
          </a:prstGeom>
        </p:spPr>
      </p:pic>
      <p:sp>
        <p:nvSpPr>
          <p:cNvPr id="18" name="Text 13"/>
          <p:cNvSpPr txBox="1"/>
          <p:nvPr/>
        </p:nvSpPr>
        <p:spPr>
          <a:xfrm>
            <a:off x="9238488" y="1783080"/>
            <a:ext cx="2173224" cy="594360"/>
          </a:xfrm>
          <a:prstGeom prst="rect">
            <a:avLst/>
          </a:prstGeom>
          <a:noFill/>
          <a:ln/>
        </p:spPr>
        <p:txBody>
          <a:bodyPr wrap="square" lIns="0" tIns="0" rIns="0" bIns="0" rtlCol="0" anchor="ctr"/>
          <a:lstStyle/>
          <a:p>
            <a:pPr indent="0" marL="0">
              <a:buNone/>
            </a:pPr>
            <a:r>
              <a:rPr lang="en-US" sz="1700" b="1" dirty="0">
                <a:solidFill>
                  <a:srgbClr val="24313A"/>
                </a:solidFill>
                <a:latin typeface="Cambria" pitchFamily="34" charset="0"/>
                <a:ea typeface="Cambria" pitchFamily="34" charset="-122"/>
                <a:cs typeface="Cambria" pitchFamily="34" charset="-120"/>
              </a:rPr>
              <a:t>Riesgo</a:t>
            </a:r>
            <a:endParaRPr lang="en-US" sz="1700" dirty="0"/>
          </a:p>
        </p:txBody>
      </p:sp>
      <p:sp>
        <p:nvSpPr>
          <p:cNvPr id="19" name="Text 14"/>
          <p:cNvSpPr txBox="1"/>
          <p:nvPr/>
        </p:nvSpPr>
        <p:spPr>
          <a:xfrm>
            <a:off x="8461248" y="2560320"/>
            <a:ext cx="2904744" cy="36576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Alimentación irregular</a:t>
            </a:r>
            <a:endParaRPr lang="en-US" sz="1600" dirty="0"/>
          </a:p>
        </p:txBody>
      </p:sp>
      <p:sp>
        <p:nvSpPr>
          <p:cNvPr id="20" name="Text 15"/>
          <p:cNvSpPr txBox="1"/>
          <p:nvPr/>
        </p:nvSpPr>
        <p:spPr>
          <a:xfrm>
            <a:off x="8461248" y="2926080"/>
            <a:ext cx="2904744" cy="502920"/>
          </a:xfrm>
          <a:prstGeom prst="rect">
            <a:avLst/>
          </a:prstGeom>
          <a:noFill/>
          <a:ln/>
        </p:spPr>
        <p:txBody>
          <a:bodyPr wrap="square" lIns="0" tIns="0" rIns="0" bIns="0" rtlCol="0" anchor="ctr"/>
          <a:lstStyle/>
          <a:p>
            <a:pPr indent="0" marL="0">
              <a:buNone/>
            </a:pPr>
            <a:r>
              <a:rPr lang="en-US" sz="2800" b="1" dirty="0">
                <a:solidFill>
                  <a:srgbClr val="24313A"/>
                </a:solidFill>
                <a:latin typeface="Cambria" pitchFamily="34" charset="0"/>
                <a:ea typeface="Cambria" pitchFamily="34" charset="-122"/>
                <a:cs typeface="Cambria" pitchFamily="34" charset="-120"/>
              </a:rPr>
              <a:t>13/20</a:t>
            </a:r>
            <a:endParaRPr lang="en-US" sz="2800" dirty="0"/>
          </a:p>
        </p:txBody>
      </p:sp>
      <p:sp>
        <p:nvSpPr>
          <p:cNvPr id="21" name="Tarjeta Protector"/>
          <p:cNvSpPr/>
          <p:nvPr/>
        </p:nvSpPr>
        <p:spPr>
          <a:xfrm>
            <a:off x="548640" y="3886200"/>
            <a:ext cx="3453384" cy="2103120"/>
          </a:xfrm>
          <a:prstGeom prst="roundRect">
            <a:avLst>
              <a:gd name="adj" fmla="val 5217"/>
            </a:avLst>
          </a:prstGeom>
          <a:solidFill>
            <a:srgbClr val="F3F4F4"/>
          </a:solidFill>
          <a:ln/>
        </p:spPr>
      </p:sp>
      <p:sp>
        <p:nvSpPr>
          <p:cNvPr id="22" name="Ícono Protector círculo"/>
          <p:cNvSpPr/>
          <p:nvPr/>
        </p:nvSpPr>
        <p:spPr>
          <a:xfrm>
            <a:off x="822960" y="4160520"/>
            <a:ext cx="594360" cy="594360"/>
          </a:xfrm>
          <a:prstGeom prst="ellipse">
            <a:avLst/>
          </a:prstGeom>
          <a:solidFill>
            <a:srgbClr val="2E6E73"/>
          </a:solidFill>
          <a:ln/>
        </p:spPr>
      </p:sp>
      <p:pic>
        <p:nvPicPr>
          <p:cNvPr id="23" name="Ícono Protector" descr="preencoded.png">    </p:cNvPr>
          <p:cNvPicPr>
            <a:picLocks noChangeAspect="1"/>
          </p:cNvPicPr>
          <p:nvPr/>
        </p:nvPicPr>
        <p:blipFill>
          <a:blip r:embed="rId4"/>
          <a:stretch>
            <a:fillRect/>
          </a:stretch>
        </p:blipFill>
        <p:spPr>
          <a:xfrm>
            <a:off x="959663" y="4297223"/>
            <a:ext cx="320954" cy="320954"/>
          </a:xfrm>
          <a:prstGeom prst="rect">
            <a:avLst/>
          </a:prstGeom>
        </p:spPr>
      </p:pic>
      <p:sp>
        <p:nvSpPr>
          <p:cNvPr id="24" name="Text 18"/>
          <p:cNvSpPr txBox="1"/>
          <p:nvPr/>
        </p:nvSpPr>
        <p:spPr>
          <a:xfrm>
            <a:off x="1600200" y="4160520"/>
            <a:ext cx="2173224" cy="594360"/>
          </a:xfrm>
          <a:prstGeom prst="rect">
            <a:avLst/>
          </a:prstGeom>
          <a:noFill/>
          <a:ln/>
        </p:spPr>
        <p:txBody>
          <a:bodyPr wrap="square" lIns="0" tIns="0" rIns="0" bIns="0" rtlCol="0" anchor="ctr"/>
          <a:lstStyle/>
          <a:p>
            <a:pPr indent="0" marL="0">
              <a:buNone/>
            </a:pPr>
            <a:r>
              <a:rPr lang="en-US" sz="1700" b="1" dirty="0">
                <a:solidFill>
                  <a:srgbClr val="24313A"/>
                </a:solidFill>
                <a:latin typeface="Cambria" pitchFamily="34" charset="0"/>
                <a:ea typeface="Cambria" pitchFamily="34" charset="-122"/>
                <a:cs typeface="Cambria" pitchFamily="34" charset="-120"/>
              </a:rPr>
              <a:t>Protector</a:t>
            </a:r>
            <a:endParaRPr lang="en-US" sz="1700" dirty="0"/>
          </a:p>
        </p:txBody>
      </p:sp>
      <p:sp>
        <p:nvSpPr>
          <p:cNvPr id="25" name="Text 19"/>
          <p:cNvSpPr txBox="1"/>
          <p:nvPr/>
        </p:nvSpPr>
        <p:spPr>
          <a:xfrm>
            <a:off x="822960" y="4937760"/>
            <a:ext cx="2904744" cy="36576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Apoyo de amigos</a:t>
            </a:r>
            <a:endParaRPr lang="en-US" sz="1600" dirty="0"/>
          </a:p>
        </p:txBody>
      </p:sp>
      <p:sp>
        <p:nvSpPr>
          <p:cNvPr id="26" name="Text 20"/>
          <p:cNvSpPr txBox="1"/>
          <p:nvPr/>
        </p:nvSpPr>
        <p:spPr>
          <a:xfrm>
            <a:off x="822960" y="5303520"/>
            <a:ext cx="2904744" cy="502920"/>
          </a:xfrm>
          <a:prstGeom prst="rect">
            <a:avLst/>
          </a:prstGeom>
          <a:noFill/>
          <a:ln/>
        </p:spPr>
        <p:txBody>
          <a:bodyPr wrap="square" lIns="0" tIns="0" rIns="0" bIns="0" rtlCol="0" anchor="ctr"/>
          <a:lstStyle/>
          <a:p>
            <a:pPr indent="0" marL="0">
              <a:buNone/>
            </a:pPr>
            <a:r>
              <a:rPr lang="en-US" sz="2800" b="1" dirty="0">
                <a:solidFill>
                  <a:srgbClr val="24313A"/>
                </a:solidFill>
                <a:latin typeface="Cambria" pitchFamily="34" charset="0"/>
                <a:ea typeface="Cambria" pitchFamily="34" charset="-122"/>
                <a:cs typeface="Cambria" pitchFamily="34" charset="-120"/>
              </a:rPr>
              <a:t>14/20</a:t>
            </a:r>
            <a:endParaRPr lang="en-US" sz="2800" dirty="0"/>
          </a:p>
        </p:txBody>
      </p:sp>
      <p:sp>
        <p:nvSpPr>
          <p:cNvPr id="27" name="Tarjeta Salud mental"/>
          <p:cNvSpPr/>
          <p:nvPr/>
        </p:nvSpPr>
        <p:spPr>
          <a:xfrm>
            <a:off x="4367784" y="3886200"/>
            <a:ext cx="3453384" cy="2103120"/>
          </a:xfrm>
          <a:prstGeom prst="roundRect">
            <a:avLst>
              <a:gd name="adj" fmla="val 5217"/>
            </a:avLst>
          </a:prstGeom>
          <a:solidFill>
            <a:srgbClr val="FBEDE4"/>
          </a:solidFill>
          <a:ln/>
        </p:spPr>
      </p:sp>
      <p:sp>
        <p:nvSpPr>
          <p:cNvPr id="28" name="Ícono Salud mental círculo"/>
          <p:cNvSpPr/>
          <p:nvPr/>
        </p:nvSpPr>
        <p:spPr>
          <a:xfrm>
            <a:off x="4642104" y="4160520"/>
            <a:ext cx="594360" cy="594360"/>
          </a:xfrm>
          <a:prstGeom prst="ellipse">
            <a:avLst/>
          </a:prstGeom>
          <a:solidFill>
            <a:srgbClr val="D9622B"/>
          </a:solidFill>
          <a:ln/>
        </p:spPr>
      </p:sp>
      <p:pic>
        <p:nvPicPr>
          <p:cNvPr id="29" name="Ícono Salud mental" descr="preencoded.png">    </p:cNvPr>
          <p:cNvPicPr>
            <a:picLocks noChangeAspect="1"/>
          </p:cNvPicPr>
          <p:nvPr/>
        </p:nvPicPr>
        <p:blipFill>
          <a:blip r:embed="rId5"/>
          <a:stretch>
            <a:fillRect/>
          </a:stretch>
        </p:blipFill>
        <p:spPr>
          <a:xfrm>
            <a:off x="4778807" y="4297223"/>
            <a:ext cx="320954" cy="320954"/>
          </a:xfrm>
          <a:prstGeom prst="rect">
            <a:avLst/>
          </a:prstGeom>
        </p:spPr>
      </p:pic>
      <p:sp>
        <p:nvSpPr>
          <p:cNvPr id="30" name="Text 23"/>
          <p:cNvSpPr txBox="1"/>
          <p:nvPr/>
        </p:nvSpPr>
        <p:spPr>
          <a:xfrm>
            <a:off x="5419344" y="4160520"/>
            <a:ext cx="2173224" cy="594360"/>
          </a:xfrm>
          <a:prstGeom prst="rect">
            <a:avLst/>
          </a:prstGeom>
          <a:noFill/>
          <a:ln/>
        </p:spPr>
        <p:txBody>
          <a:bodyPr wrap="square" lIns="0" tIns="0" rIns="0" bIns="0" rtlCol="0" anchor="ctr"/>
          <a:lstStyle/>
          <a:p>
            <a:pPr indent="0" marL="0">
              <a:buNone/>
            </a:pPr>
            <a:r>
              <a:rPr lang="en-US" sz="1700" b="1" dirty="0">
                <a:solidFill>
                  <a:srgbClr val="24313A"/>
                </a:solidFill>
                <a:latin typeface="Cambria" pitchFamily="34" charset="0"/>
                <a:ea typeface="Cambria" pitchFamily="34" charset="-122"/>
                <a:cs typeface="Cambria" pitchFamily="34" charset="-120"/>
              </a:rPr>
              <a:t>Salud mental</a:t>
            </a:r>
            <a:endParaRPr lang="en-US" sz="1700" dirty="0"/>
          </a:p>
        </p:txBody>
      </p:sp>
      <p:sp>
        <p:nvSpPr>
          <p:cNvPr id="31" name="Text 24"/>
          <p:cNvSpPr txBox="1"/>
          <p:nvPr/>
        </p:nvSpPr>
        <p:spPr>
          <a:xfrm>
            <a:off x="4642104" y="4937760"/>
            <a:ext cx="2904744" cy="36576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Estrés o ansiedad</a:t>
            </a:r>
            <a:endParaRPr lang="en-US" sz="1600" dirty="0"/>
          </a:p>
        </p:txBody>
      </p:sp>
      <p:sp>
        <p:nvSpPr>
          <p:cNvPr id="32" name="Text 25"/>
          <p:cNvSpPr txBox="1"/>
          <p:nvPr/>
        </p:nvSpPr>
        <p:spPr>
          <a:xfrm>
            <a:off x="4642104" y="5303520"/>
            <a:ext cx="2904744" cy="502920"/>
          </a:xfrm>
          <a:prstGeom prst="rect">
            <a:avLst/>
          </a:prstGeom>
          <a:noFill/>
          <a:ln/>
        </p:spPr>
        <p:txBody>
          <a:bodyPr wrap="square" lIns="0" tIns="0" rIns="0" bIns="0" rtlCol="0" anchor="ctr"/>
          <a:lstStyle/>
          <a:p>
            <a:pPr indent="0" marL="0">
              <a:buNone/>
            </a:pPr>
            <a:r>
              <a:rPr lang="en-US" sz="2800" b="1" dirty="0">
                <a:solidFill>
                  <a:srgbClr val="D9622B"/>
                </a:solidFill>
                <a:latin typeface="Cambria" pitchFamily="34" charset="0"/>
                <a:ea typeface="Cambria" pitchFamily="34" charset="-122"/>
                <a:cs typeface="Cambria" pitchFamily="34" charset="-120"/>
              </a:rPr>
              <a:t>19/20</a:t>
            </a:r>
            <a:endParaRPr lang="en-US" sz="2800" dirty="0"/>
          </a:p>
        </p:txBody>
      </p:sp>
      <p:sp>
        <p:nvSpPr>
          <p:cNvPr id="33" name="Tarjeta Estilo de vida"/>
          <p:cNvSpPr/>
          <p:nvPr/>
        </p:nvSpPr>
        <p:spPr>
          <a:xfrm>
            <a:off x="8186928" y="3886200"/>
            <a:ext cx="3453384" cy="2103120"/>
          </a:xfrm>
          <a:prstGeom prst="roundRect">
            <a:avLst>
              <a:gd name="adj" fmla="val 5217"/>
            </a:avLst>
          </a:prstGeom>
          <a:solidFill>
            <a:srgbClr val="F3F4F4"/>
          </a:solidFill>
          <a:ln/>
        </p:spPr>
      </p:sp>
      <p:sp>
        <p:nvSpPr>
          <p:cNvPr id="34" name="Ícono Estilo de vida círculo"/>
          <p:cNvSpPr/>
          <p:nvPr/>
        </p:nvSpPr>
        <p:spPr>
          <a:xfrm>
            <a:off x="8461248" y="4160520"/>
            <a:ext cx="594360" cy="594360"/>
          </a:xfrm>
          <a:prstGeom prst="ellipse">
            <a:avLst/>
          </a:prstGeom>
          <a:solidFill>
            <a:srgbClr val="2E6E73"/>
          </a:solidFill>
          <a:ln/>
        </p:spPr>
      </p:sp>
      <p:pic>
        <p:nvPicPr>
          <p:cNvPr id="35" name="Ícono Estilo de vida" descr="preencoded.png">    </p:cNvPr>
          <p:cNvPicPr>
            <a:picLocks noChangeAspect="1"/>
          </p:cNvPicPr>
          <p:nvPr/>
        </p:nvPicPr>
        <p:blipFill>
          <a:blip r:embed="rId6"/>
          <a:stretch>
            <a:fillRect/>
          </a:stretch>
        </p:blipFill>
        <p:spPr>
          <a:xfrm>
            <a:off x="8597951" y="4297223"/>
            <a:ext cx="320954" cy="320954"/>
          </a:xfrm>
          <a:prstGeom prst="rect">
            <a:avLst/>
          </a:prstGeom>
        </p:spPr>
      </p:pic>
      <p:sp>
        <p:nvSpPr>
          <p:cNvPr id="36" name="Text 28"/>
          <p:cNvSpPr txBox="1"/>
          <p:nvPr/>
        </p:nvSpPr>
        <p:spPr>
          <a:xfrm>
            <a:off x="9238488" y="4160520"/>
            <a:ext cx="2173224" cy="594360"/>
          </a:xfrm>
          <a:prstGeom prst="rect">
            <a:avLst/>
          </a:prstGeom>
          <a:noFill/>
          <a:ln/>
        </p:spPr>
        <p:txBody>
          <a:bodyPr wrap="square" lIns="0" tIns="0" rIns="0" bIns="0" rtlCol="0" anchor="ctr"/>
          <a:lstStyle/>
          <a:p>
            <a:pPr indent="0" marL="0">
              <a:buNone/>
            </a:pPr>
            <a:r>
              <a:rPr lang="en-US" sz="1700" b="1" dirty="0">
                <a:solidFill>
                  <a:srgbClr val="24313A"/>
                </a:solidFill>
                <a:latin typeface="Cambria" pitchFamily="34" charset="0"/>
                <a:ea typeface="Cambria" pitchFamily="34" charset="-122"/>
                <a:cs typeface="Cambria" pitchFamily="34" charset="-120"/>
              </a:rPr>
              <a:t>Estilo de vida</a:t>
            </a:r>
            <a:endParaRPr lang="en-US" sz="1700" dirty="0"/>
          </a:p>
        </p:txBody>
      </p:sp>
      <p:sp>
        <p:nvSpPr>
          <p:cNvPr id="37" name="Text 29"/>
          <p:cNvSpPr txBox="1"/>
          <p:nvPr/>
        </p:nvSpPr>
        <p:spPr>
          <a:xfrm>
            <a:off x="8461248" y="4937760"/>
            <a:ext cx="2904744" cy="365760"/>
          </a:xfrm>
          <a:prstGeom prst="rect">
            <a:avLst/>
          </a:prstGeom>
          <a:noFill/>
          <a:ln/>
        </p:spPr>
        <p:txBody>
          <a:bodyPr wrap="square" lIns="0" tIns="0" rIns="0" bIns="0" rtlCol="0" anchor="ctr"/>
          <a:lstStyle/>
          <a:p>
            <a:pPr indent="0" marL="0">
              <a:buNone/>
            </a:pPr>
            <a:r>
              <a:rPr lang="en-US" sz="1600" dirty="0">
                <a:solidFill>
                  <a:srgbClr val="3B444C"/>
                </a:solidFill>
                <a:latin typeface="Calibri" pitchFamily="34" charset="0"/>
                <a:ea typeface="Calibri" pitchFamily="34" charset="-122"/>
                <a:cs typeface="Calibri" pitchFamily="34" charset="-120"/>
              </a:rPr>
              <a:t>Rutina organizada</a:t>
            </a:r>
            <a:endParaRPr lang="en-US" sz="1600" dirty="0"/>
          </a:p>
        </p:txBody>
      </p:sp>
      <p:sp>
        <p:nvSpPr>
          <p:cNvPr id="38" name="Text 30"/>
          <p:cNvSpPr txBox="1"/>
          <p:nvPr/>
        </p:nvSpPr>
        <p:spPr>
          <a:xfrm>
            <a:off x="8461248" y="5303520"/>
            <a:ext cx="2904744" cy="502920"/>
          </a:xfrm>
          <a:prstGeom prst="rect">
            <a:avLst/>
          </a:prstGeom>
          <a:noFill/>
          <a:ln/>
        </p:spPr>
        <p:txBody>
          <a:bodyPr wrap="square" lIns="0" tIns="0" rIns="0" bIns="0" rtlCol="0" anchor="ctr"/>
          <a:lstStyle/>
          <a:p>
            <a:pPr indent="0" marL="0">
              <a:buNone/>
            </a:pPr>
            <a:r>
              <a:rPr lang="en-US" sz="2800" b="1" dirty="0">
                <a:solidFill>
                  <a:srgbClr val="24313A"/>
                </a:solidFill>
                <a:latin typeface="Cambria" pitchFamily="34" charset="0"/>
                <a:ea typeface="Cambria" pitchFamily="34" charset="-122"/>
                <a:cs typeface="Cambria" pitchFamily="34" charset="-120"/>
              </a:rPr>
              <a:t>12/20</a:t>
            </a:r>
            <a:endParaRPr lang="en-US" sz="28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El estrés como eje de los factores predominantes</a:t>
            </a:r>
            <a:endParaRPr lang="en-US" sz="2600" dirty="0"/>
          </a:p>
        </p:txBody>
      </p:sp>
      <p:sp>
        <p:nvSpPr>
          <p:cNvPr id="3" name="Tarjeta Carga académica"/>
          <p:cNvSpPr/>
          <p:nvPr/>
        </p:nvSpPr>
        <p:spPr>
          <a:xfrm>
            <a:off x="548640" y="1508760"/>
            <a:ext cx="2395728" cy="2560320"/>
          </a:xfrm>
          <a:prstGeom prst="roundRect">
            <a:avLst>
              <a:gd name="adj" fmla="val 4580"/>
            </a:avLst>
          </a:prstGeom>
          <a:solidFill>
            <a:srgbClr val="F3F4F4"/>
          </a:solidFill>
          <a:ln/>
        </p:spPr>
      </p:sp>
      <p:sp>
        <p:nvSpPr>
          <p:cNvPr id="4" name="Ícono Carga académica círculo"/>
          <p:cNvSpPr/>
          <p:nvPr/>
        </p:nvSpPr>
        <p:spPr>
          <a:xfrm>
            <a:off x="822960" y="1783080"/>
            <a:ext cx="685800" cy="685800"/>
          </a:xfrm>
          <a:prstGeom prst="ellipse">
            <a:avLst/>
          </a:prstGeom>
          <a:solidFill>
            <a:srgbClr val="2E6E73"/>
          </a:solidFill>
          <a:ln/>
        </p:spPr>
      </p:sp>
      <p:pic>
        <p:nvPicPr>
          <p:cNvPr id="5" name="Ícono Carga académica" descr="preencoded.png">    </p:cNvPr>
          <p:cNvPicPr>
            <a:picLocks noChangeAspect="1"/>
          </p:cNvPicPr>
          <p:nvPr/>
        </p:nvPicPr>
        <p:blipFill>
          <a:blip r:embed="rId1"/>
          <a:stretch>
            <a:fillRect/>
          </a:stretch>
        </p:blipFill>
        <p:spPr>
          <a:xfrm>
            <a:off x="980694" y="1940814"/>
            <a:ext cx="370332" cy="370332"/>
          </a:xfrm>
          <a:prstGeom prst="rect">
            <a:avLst/>
          </a:prstGeom>
        </p:spPr>
      </p:pic>
      <p:sp>
        <p:nvSpPr>
          <p:cNvPr id="6" name="Text 3"/>
          <p:cNvSpPr txBox="1"/>
          <p:nvPr/>
        </p:nvSpPr>
        <p:spPr>
          <a:xfrm>
            <a:off x="822960" y="2606040"/>
            <a:ext cx="1938528" cy="411480"/>
          </a:xfrm>
          <a:prstGeom prst="rect">
            <a:avLst/>
          </a:prstGeom>
          <a:noFill/>
          <a:ln/>
        </p:spPr>
        <p:txBody>
          <a:bodyPr wrap="square" lIns="0" tIns="0" rIns="0" bIns="0" rtlCol="0" anchor="t"/>
          <a:lstStyle/>
          <a:p>
            <a:pPr indent="0" marL="0">
              <a:buNone/>
            </a:pPr>
            <a:r>
              <a:rPr lang="en-US" sz="1700" b="1" dirty="0">
                <a:solidFill>
                  <a:srgbClr val="24313A"/>
                </a:solidFill>
                <a:latin typeface="Cambria" pitchFamily="34" charset="0"/>
                <a:ea typeface="Cambria" pitchFamily="34" charset="-122"/>
                <a:cs typeface="Cambria" pitchFamily="34" charset="-120"/>
              </a:rPr>
              <a:t>Carga académica</a:t>
            </a:r>
            <a:endParaRPr lang="en-US" sz="1700" dirty="0"/>
          </a:p>
        </p:txBody>
      </p:sp>
      <p:sp>
        <p:nvSpPr>
          <p:cNvPr id="7" name="Text 4"/>
          <p:cNvSpPr txBox="1"/>
          <p:nvPr/>
        </p:nvSpPr>
        <p:spPr>
          <a:xfrm>
            <a:off x="822960" y="3063240"/>
            <a:ext cx="1892808" cy="1051560"/>
          </a:xfrm>
          <a:prstGeom prst="rect">
            <a:avLst/>
          </a:prstGeom>
          <a:noFill/>
          <a:ln/>
        </p:spPr>
        <p:txBody>
          <a:bodyPr wrap="square" lIns="0" tIns="0" rIns="0" bIns="0" rtlCol="0" anchor="t"/>
          <a:lstStyle/>
          <a:p>
            <a:pPr indent="0" marL="0">
              <a:buNone/>
            </a:pPr>
            <a:r>
              <a:rPr lang="en-US" sz="1500" dirty="0">
                <a:solidFill>
                  <a:srgbClr val="3B444C"/>
                </a:solidFill>
                <a:latin typeface="Calibri" pitchFamily="34" charset="0"/>
                <a:ea typeface="Calibri" pitchFamily="34" charset="-122"/>
                <a:cs typeface="Calibri" pitchFamily="34" charset="-120"/>
              </a:rPr>
              <a:t>Exige tiempo y rendimiento, y 11 de 20 además trabajan</a:t>
            </a:r>
            <a:endParaRPr lang="en-US" sz="1500" dirty="0"/>
          </a:p>
        </p:txBody>
      </p:sp>
      <p:sp>
        <p:nvSpPr>
          <p:cNvPr id="8" name="Flecha 1"/>
          <p:cNvSpPr/>
          <p:nvPr/>
        </p:nvSpPr>
        <p:spPr>
          <a:xfrm>
            <a:off x="3054096" y="2724912"/>
            <a:ext cx="283464" cy="310896"/>
          </a:xfrm>
          <a:prstGeom prst="rightArrow">
            <a:avLst/>
          </a:prstGeom>
          <a:solidFill>
            <a:srgbClr val="9AA3A9"/>
          </a:solidFill>
          <a:ln/>
        </p:spPr>
      </p:sp>
      <p:sp>
        <p:nvSpPr>
          <p:cNvPr id="9" name="Tarjeta Responsabilidad"/>
          <p:cNvSpPr/>
          <p:nvPr/>
        </p:nvSpPr>
        <p:spPr>
          <a:xfrm>
            <a:off x="3447288" y="1508760"/>
            <a:ext cx="2395728" cy="2560320"/>
          </a:xfrm>
          <a:prstGeom prst="roundRect">
            <a:avLst>
              <a:gd name="adj" fmla="val 4580"/>
            </a:avLst>
          </a:prstGeom>
          <a:solidFill>
            <a:srgbClr val="F3F4F4"/>
          </a:solidFill>
          <a:ln/>
        </p:spPr>
      </p:sp>
      <p:sp>
        <p:nvSpPr>
          <p:cNvPr id="10" name="Ícono Responsabilidad círculo"/>
          <p:cNvSpPr/>
          <p:nvPr/>
        </p:nvSpPr>
        <p:spPr>
          <a:xfrm>
            <a:off x="3721608" y="1783080"/>
            <a:ext cx="685800" cy="685800"/>
          </a:xfrm>
          <a:prstGeom prst="ellipse">
            <a:avLst/>
          </a:prstGeom>
          <a:solidFill>
            <a:srgbClr val="2E6E73"/>
          </a:solidFill>
          <a:ln/>
        </p:spPr>
      </p:sp>
      <p:pic>
        <p:nvPicPr>
          <p:cNvPr id="11" name="Ícono Responsabilidad" descr="preencoded.png">    </p:cNvPr>
          <p:cNvPicPr>
            <a:picLocks noChangeAspect="1"/>
          </p:cNvPicPr>
          <p:nvPr/>
        </p:nvPicPr>
        <p:blipFill>
          <a:blip r:embed="rId2"/>
          <a:stretch>
            <a:fillRect/>
          </a:stretch>
        </p:blipFill>
        <p:spPr>
          <a:xfrm>
            <a:off x="3879342" y="1940814"/>
            <a:ext cx="370332" cy="370332"/>
          </a:xfrm>
          <a:prstGeom prst="rect">
            <a:avLst/>
          </a:prstGeom>
        </p:spPr>
      </p:pic>
      <p:sp>
        <p:nvSpPr>
          <p:cNvPr id="12" name="Text 8"/>
          <p:cNvSpPr txBox="1"/>
          <p:nvPr/>
        </p:nvSpPr>
        <p:spPr>
          <a:xfrm>
            <a:off x="3721608" y="2606040"/>
            <a:ext cx="1938528" cy="411480"/>
          </a:xfrm>
          <a:prstGeom prst="rect">
            <a:avLst/>
          </a:prstGeom>
          <a:noFill/>
          <a:ln/>
        </p:spPr>
        <p:txBody>
          <a:bodyPr wrap="square" lIns="0" tIns="0" rIns="0" bIns="0" rtlCol="0" anchor="t"/>
          <a:lstStyle/>
          <a:p>
            <a:pPr indent="0" marL="0">
              <a:buNone/>
            </a:pPr>
            <a:r>
              <a:rPr lang="en-US" sz="1700" b="1" dirty="0">
                <a:solidFill>
                  <a:srgbClr val="24313A"/>
                </a:solidFill>
                <a:latin typeface="Cambria" pitchFamily="34" charset="0"/>
                <a:ea typeface="Cambria" pitchFamily="34" charset="-122"/>
                <a:cs typeface="Cambria" pitchFamily="34" charset="-120"/>
              </a:rPr>
              <a:t>Responsabilidad</a:t>
            </a:r>
            <a:endParaRPr lang="en-US" sz="1700" dirty="0"/>
          </a:p>
        </p:txBody>
      </p:sp>
      <p:sp>
        <p:nvSpPr>
          <p:cNvPr id="13" name="Text 9"/>
          <p:cNvSpPr txBox="1"/>
          <p:nvPr/>
        </p:nvSpPr>
        <p:spPr>
          <a:xfrm>
            <a:off x="3721608" y="3063240"/>
            <a:ext cx="1892808" cy="1051560"/>
          </a:xfrm>
          <a:prstGeom prst="rect">
            <a:avLst/>
          </a:prstGeom>
          <a:noFill/>
          <a:ln/>
        </p:spPr>
        <p:txBody>
          <a:bodyPr wrap="square" lIns="0" tIns="0" rIns="0" bIns="0" rtlCol="0" anchor="t"/>
          <a:lstStyle/>
          <a:p>
            <a:pPr indent="0" marL="0">
              <a:buNone/>
            </a:pPr>
            <a:r>
              <a:rPr lang="en-US" sz="1500" dirty="0">
                <a:solidFill>
                  <a:srgbClr val="3B444C"/>
                </a:solidFill>
                <a:latin typeface="Calibri" pitchFamily="34" charset="0"/>
                <a:ea typeface="Calibri" pitchFamily="34" charset="-122"/>
                <a:cs typeface="Calibri" pitchFamily="34" charset="-120"/>
              </a:rPr>
              <a:t>Permite cumplir, pero se vuelve autoexigencia</a:t>
            </a:r>
            <a:endParaRPr lang="en-US" sz="1500" dirty="0"/>
          </a:p>
        </p:txBody>
      </p:sp>
      <p:sp>
        <p:nvSpPr>
          <p:cNvPr id="14" name="Flecha 2"/>
          <p:cNvSpPr/>
          <p:nvPr/>
        </p:nvSpPr>
        <p:spPr>
          <a:xfrm>
            <a:off x="5952744" y="2724912"/>
            <a:ext cx="283464" cy="310896"/>
          </a:xfrm>
          <a:prstGeom prst="rightArrow">
            <a:avLst/>
          </a:prstGeom>
          <a:solidFill>
            <a:srgbClr val="9AA3A9"/>
          </a:solidFill>
          <a:ln/>
        </p:spPr>
      </p:sp>
      <p:sp>
        <p:nvSpPr>
          <p:cNvPr id="15" name="Tarjeta Estrés o ansiedad"/>
          <p:cNvSpPr/>
          <p:nvPr/>
        </p:nvSpPr>
        <p:spPr>
          <a:xfrm>
            <a:off x="6345936" y="1508760"/>
            <a:ext cx="2395728" cy="2560320"/>
          </a:xfrm>
          <a:prstGeom prst="roundRect">
            <a:avLst>
              <a:gd name="adj" fmla="val 4580"/>
            </a:avLst>
          </a:prstGeom>
          <a:solidFill>
            <a:srgbClr val="FBEDE4"/>
          </a:solidFill>
          <a:ln/>
        </p:spPr>
      </p:sp>
      <p:sp>
        <p:nvSpPr>
          <p:cNvPr id="16" name="Ícono Estrés o ansiedad círculo"/>
          <p:cNvSpPr/>
          <p:nvPr/>
        </p:nvSpPr>
        <p:spPr>
          <a:xfrm>
            <a:off x="6620256" y="1783080"/>
            <a:ext cx="685800" cy="685800"/>
          </a:xfrm>
          <a:prstGeom prst="ellipse">
            <a:avLst/>
          </a:prstGeom>
          <a:solidFill>
            <a:srgbClr val="D9622B"/>
          </a:solidFill>
          <a:ln/>
        </p:spPr>
      </p:sp>
      <p:pic>
        <p:nvPicPr>
          <p:cNvPr id="17" name="Ícono Estrés o ansiedad" descr="preencoded.png">    </p:cNvPr>
          <p:cNvPicPr>
            <a:picLocks noChangeAspect="1"/>
          </p:cNvPicPr>
          <p:nvPr/>
        </p:nvPicPr>
        <p:blipFill>
          <a:blip r:embed="rId3"/>
          <a:stretch>
            <a:fillRect/>
          </a:stretch>
        </p:blipFill>
        <p:spPr>
          <a:xfrm>
            <a:off x="6777990" y="1940814"/>
            <a:ext cx="370332" cy="370332"/>
          </a:xfrm>
          <a:prstGeom prst="rect">
            <a:avLst/>
          </a:prstGeom>
        </p:spPr>
      </p:pic>
      <p:sp>
        <p:nvSpPr>
          <p:cNvPr id="18" name="Text 13"/>
          <p:cNvSpPr txBox="1"/>
          <p:nvPr/>
        </p:nvSpPr>
        <p:spPr>
          <a:xfrm>
            <a:off x="6620256" y="2606040"/>
            <a:ext cx="1938528" cy="411480"/>
          </a:xfrm>
          <a:prstGeom prst="rect">
            <a:avLst/>
          </a:prstGeom>
          <a:noFill/>
          <a:ln/>
        </p:spPr>
        <p:txBody>
          <a:bodyPr wrap="square" lIns="0" tIns="0" rIns="0" bIns="0" rtlCol="0" anchor="t"/>
          <a:lstStyle/>
          <a:p>
            <a:pPr indent="0" marL="0">
              <a:buNone/>
            </a:pPr>
            <a:r>
              <a:rPr lang="en-US" sz="1700" b="1" dirty="0">
                <a:solidFill>
                  <a:srgbClr val="D9622B"/>
                </a:solidFill>
                <a:latin typeface="Cambria" pitchFamily="34" charset="0"/>
                <a:ea typeface="Cambria" pitchFamily="34" charset="-122"/>
                <a:cs typeface="Cambria" pitchFamily="34" charset="-120"/>
              </a:rPr>
              <a:t>Estrés o ansiedad</a:t>
            </a:r>
            <a:endParaRPr lang="en-US" sz="1700" dirty="0"/>
          </a:p>
        </p:txBody>
      </p:sp>
      <p:sp>
        <p:nvSpPr>
          <p:cNvPr id="19" name="Text 14"/>
          <p:cNvSpPr txBox="1"/>
          <p:nvPr/>
        </p:nvSpPr>
        <p:spPr>
          <a:xfrm>
            <a:off x="6620256" y="3063240"/>
            <a:ext cx="1892808" cy="1051560"/>
          </a:xfrm>
          <a:prstGeom prst="rect">
            <a:avLst/>
          </a:prstGeom>
          <a:noFill/>
          <a:ln/>
        </p:spPr>
        <p:txBody>
          <a:bodyPr wrap="square" lIns="0" tIns="0" rIns="0" bIns="0" rtlCol="0" anchor="t"/>
          <a:lstStyle/>
          <a:p>
            <a:pPr indent="0" marL="0">
              <a:buNone/>
            </a:pPr>
            <a:r>
              <a:rPr lang="en-US" sz="1500" dirty="0">
                <a:solidFill>
                  <a:srgbClr val="3B444C"/>
                </a:solidFill>
                <a:latin typeface="Calibri" pitchFamily="34" charset="0"/>
                <a:ea typeface="Calibri" pitchFamily="34" charset="-122"/>
                <a:cs typeface="Calibri" pitchFamily="34" charset="-120"/>
              </a:rPr>
              <a:t>Presente en 19 de 20 participantes</a:t>
            </a:r>
            <a:endParaRPr lang="en-US" sz="1500" dirty="0"/>
          </a:p>
        </p:txBody>
      </p:sp>
      <p:sp>
        <p:nvSpPr>
          <p:cNvPr id="20" name="Flecha 3"/>
          <p:cNvSpPr/>
          <p:nvPr/>
        </p:nvSpPr>
        <p:spPr>
          <a:xfrm>
            <a:off x="8851392" y="2724912"/>
            <a:ext cx="283464" cy="310896"/>
          </a:xfrm>
          <a:prstGeom prst="rightArrow">
            <a:avLst/>
          </a:prstGeom>
          <a:solidFill>
            <a:srgbClr val="9AA3A9"/>
          </a:solidFill>
          <a:ln/>
        </p:spPr>
      </p:sp>
      <p:sp>
        <p:nvSpPr>
          <p:cNvPr id="21" name="Tarjeta Sueño y comidas"/>
          <p:cNvSpPr/>
          <p:nvPr/>
        </p:nvSpPr>
        <p:spPr>
          <a:xfrm>
            <a:off x="9244584" y="1508760"/>
            <a:ext cx="2395728" cy="2560320"/>
          </a:xfrm>
          <a:prstGeom prst="roundRect">
            <a:avLst>
              <a:gd name="adj" fmla="val 4580"/>
            </a:avLst>
          </a:prstGeom>
          <a:solidFill>
            <a:srgbClr val="F3F4F4"/>
          </a:solidFill>
          <a:ln/>
        </p:spPr>
      </p:sp>
      <p:sp>
        <p:nvSpPr>
          <p:cNvPr id="22" name="Ícono Sueño y comidas círculo"/>
          <p:cNvSpPr/>
          <p:nvPr/>
        </p:nvSpPr>
        <p:spPr>
          <a:xfrm>
            <a:off x="9518904" y="1783080"/>
            <a:ext cx="685800" cy="685800"/>
          </a:xfrm>
          <a:prstGeom prst="ellipse">
            <a:avLst/>
          </a:prstGeom>
          <a:solidFill>
            <a:srgbClr val="2E6E73"/>
          </a:solidFill>
          <a:ln/>
        </p:spPr>
      </p:sp>
      <p:pic>
        <p:nvPicPr>
          <p:cNvPr id="23" name="Ícono Sueño y comidas" descr="preencoded.png">    </p:cNvPr>
          <p:cNvPicPr>
            <a:picLocks noChangeAspect="1"/>
          </p:cNvPicPr>
          <p:nvPr/>
        </p:nvPicPr>
        <p:blipFill>
          <a:blip r:embed="rId4"/>
          <a:stretch>
            <a:fillRect/>
          </a:stretch>
        </p:blipFill>
        <p:spPr>
          <a:xfrm>
            <a:off x="9676638" y="1940814"/>
            <a:ext cx="370332" cy="370332"/>
          </a:xfrm>
          <a:prstGeom prst="rect">
            <a:avLst/>
          </a:prstGeom>
        </p:spPr>
      </p:pic>
      <p:sp>
        <p:nvSpPr>
          <p:cNvPr id="24" name="Text 18"/>
          <p:cNvSpPr txBox="1"/>
          <p:nvPr/>
        </p:nvSpPr>
        <p:spPr>
          <a:xfrm>
            <a:off x="9518904" y="2606040"/>
            <a:ext cx="1938528" cy="411480"/>
          </a:xfrm>
          <a:prstGeom prst="rect">
            <a:avLst/>
          </a:prstGeom>
          <a:noFill/>
          <a:ln/>
        </p:spPr>
        <p:txBody>
          <a:bodyPr wrap="square" lIns="0" tIns="0" rIns="0" bIns="0" rtlCol="0" anchor="t"/>
          <a:lstStyle/>
          <a:p>
            <a:pPr indent="0" marL="0">
              <a:buNone/>
            </a:pPr>
            <a:r>
              <a:rPr lang="en-US" sz="1700" b="1" dirty="0">
                <a:solidFill>
                  <a:srgbClr val="24313A"/>
                </a:solidFill>
                <a:latin typeface="Cambria" pitchFamily="34" charset="0"/>
                <a:ea typeface="Cambria" pitchFamily="34" charset="-122"/>
                <a:cs typeface="Cambria" pitchFamily="34" charset="-120"/>
              </a:rPr>
              <a:t>Sueño y comidas</a:t>
            </a:r>
            <a:endParaRPr lang="en-US" sz="1700" dirty="0"/>
          </a:p>
        </p:txBody>
      </p:sp>
      <p:sp>
        <p:nvSpPr>
          <p:cNvPr id="25" name="Text 19"/>
          <p:cNvSpPr txBox="1"/>
          <p:nvPr/>
        </p:nvSpPr>
        <p:spPr>
          <a:xfrm>
            <a:off x="9518904" y="3063240"/>
            <a:ext cx="1892808" cy="1051560"/>
          </a:xfrm>
          <a:prstGeom prst="rect">
            <a:avLst/>
          </a:prstGeom>
          <a:noFill/>
          <a:ln/>
        </p:spPr>
        <p:txBody>
          <a:bodyPr wrap="square" lIns="0" tIns="0" rIns="0" bIns="0" rtlCol="0" anchor="t"/>
          <a:lstStyle/>
          <a:p>
            <a:pPr indent="0" marL="0">
              <a:buNone/>
            </a:pPr>
            <a:r>
              <a:rPr lang="en-US" sz="1500" dirty="0">
                <a:solidFill>
                  <a:srgbClr val="3B444C"/>
                </a:solidFill>
                <a:latin typeface="Calibri" pitchFamily="34" charset="0"/>
                <a:ea typeface="Calibri" pitchFamily="34" charset="-122"/>
                <a:cs typeface="Calibri" pitchFamily="34" charset="-120"/>
              </a:rPr>
              <a:t>Es lo primero que se sacrifica</a:t>
            </a:r>
            <a:endParaRPr lang="en-US" sz="1500" dirty="0"/>
          </a:p>
        </p:txBody>
      </p:sp>
      <p:sp>
        <p:nvSpPr>
          <p:cNvPr id="26" name="Franja amigos"/>
          <p:cNvSpPr/>
          <p:nvPr/>
        </p:nvSpPr>
        <p:spPr>
          <a:xfrm>
            <a:off x="548640" y="4617720"/>
            <a:ext cx="11091672" cy="1280160"/>
          </a:xfrm>
          <a:prstGeom prst="roundRect">
            <a:avLst>
              <a:gd name="adj" fmla="val 8571"/>
            </a:avLst>
          </a:prstGeom>
          <a:solidFill>
            <a:srgbClr val="24313A"/>
          </a:solidFill>
          <a:ln/>
        </p:spPr>
      </p:sp>
      <p:sp>
        <p:nvSpPr>
          <p:cNvPr id="27" name="Ícono amigos círculo"/>
          <p:cNvSpPr/>
          <p:nvPr/>
        </p:nvSpPr>
        <p:spPr>
          <a:xfrm>
            <a:off x="868680" y="4892040"/>
            <a:ext cx="731520" cy="731520"/>
          </a:xfrm>
          <a:prstGeom prst="ellipse">
            <a:avLst/>
          </a:prstGeom>
          <a:solidFill>
            <a:srgbClr val="D9622B"/>
          </a:solidFill>
          <a:ln/>
        </p:spPr>
      </p:sp>
      <p:pic>
        <p:nvPicPr>
          <p:cNvPr id="28" name="Ícono amigos" descr="preencoded.png">    </p:cNvPr>
          <p:cNvPicPr>
            <a:picLocks noChangeAspect="1"/>
          </p:cNvPicPr>
          <p:nvPr/>
        </p:nvPicPr>
        <p:blipFill>
          <a:blip r:embed="rId5"/>
          <a:stretch>
            <a:fillRect/>
          </a:stretch>
        </p:blipFill>
        <p:spPr>
          <a:xfrm>
            <a:off x="1036930" y="5060290"/>
            <a:ext cx="395021" cy="395021"/>
          </a:xfrm>
          <a:prstGeom prst="rect">
            <a:avLst/>
          </a:prstGeom>
        </p:spPr>
      </p:pic>
      <p:sp>
        <p:nvSpPr>
          <p:cNvPr id="29" name="Text 22"/>
          <p:cNvSpPr txBox="1"/>
          <p:nvPr/>
        </p:nvSpPr>
        <p:spPr>
          <a:xfrm>
            <a:off x="1828800" y="4754880"/>
            <a:ext cx="950976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Los amigos alivian el estrés (14 de 20), pero son también el espacio donde se concentra el consumo de alcohol de fin de semana. La misma red protege y expone al riesgo.</a:t>
            </a:r>
            <a:endParaRPr lang="en-US" sz="1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El entorno genera el estrés y la personalidad lo modula</a:t>
            </a:r>
            <a:endParaRPr lang="en-US" sz="2600" dirty="0"/>
          </a:p>
        </p:txBody>
      </p:sp>
      <p:sp>
        <p:nvSpPr>
          <p:cNvPr id="3" name="Tarjeta Determinantes sociales"/>
          <p:cNvSpPr/>
          <p:nvPr/>
        </p:nvSpPr>
        <p:spPr>
          <a:xfrm>
            <a:off x="548640" y="1508760"/>
            <a:ext cx="5362956" cy="3154680"/>
          </a:xfrm>
          <a:prstGeom prst="roundRect">
            <a:avLst>
              <a:gd name="adj" fmla="val 3478"/>
            </a:avLst>
          </a:prstGeom>
          <a:solidFill>
            <a:srgbClr val="F3F4F4"/>
          </a:solidFill>
          <a:ln/>
        </p:spPr>
      </p:sp>
      <p:sp>
        <p:nvSpPr>
          <p:cNvPr id="4" name="Ícono Determinantes sociales círculo"/>
          <p:cNvSpPr/>
          <p:nvPr/>
        </p:nvSpPr>
        <p:spPr>
          <a:xfrm>
            <a:off x="868680" y="1737360"/>
            <a:ext cx="640080" cy="640080"/>
          </a:xfrm>
          <a:prstGeom prst="ellipse">
            <a:avLst/>
          </a:prstGeom>
          <a:solidFill>
            <a:srgbClr val="2E6E73"/>
          </a:solidFill>
          <a:ln/>
        </p:spPr>
      </p:sp>
      <p:pic>
        <p:nvPicPr>
          <p:cNvPr id="5" name="Ícono Determinantes sociales" descr="preencoded.png">    </p:cNvPr>
          <p:cNvPicPr>
            <a:picLocks noChangeAspect="1"/>
          </p:cNvPicPr>
          <p:nvPr/>
        </p:nvPicPr>
        <p:blipFill>
          <a:blip r:embed="rId1"/>
          <a:stretch>
            <a:fillRect/>
          </a:stretch>
        </p:blipFill>
        <p:spPr>
          <a:xfrm>
            <a:off x="1015898" y="1884578"/>
            <a:ext cx="345643" cy="345643"/>
          </a:xfrm>
          <a:prstGeom prst="rect">
            <a:avLst/>
          </a:prstGeom>
        </p:spPr>
      </p:pic>
      <p:sp>
        <p:nvSpPr>
          <p:cNvPr id="6" name="Text 3"/>
          <p:cNvSpPr txBox="1"/>
          <p:nvPr/>
        </p:nvSpPr>
        <p:spPr>
          <a:xfrm>
            <a:off x="1691640" y="1737360"/>
            <a:ext cx="3991356" cy="640080"/>
          </a:xfrm>
          <a:prstGeom prst="rect">
            <a:avLst/>
          </a:prstGeom>
          <a:noFill/>
          <a:ln/>
        </p:spPr>
        <p:txBody>
          <a:bodyPr wrap="square" lIns="0" tIns="0" rIns="0" bIns="0" rtlCol="0" anchor="ctr"/>
          <a:lstStyle/>
          <a:p>
            <a:pPr indent="0" marL="0">
              <a:buNone/>
            </a:pPr>
            <a:r>
              <a:rPr lang="en-US" sz="1900" b="1" dirty="0">
                <a:solidFill>
                  <a:srgbClr val="24313A"/>
                </a:solidFill>
                <a:latin typeface="Cambria" pitchFamily="34" charset="0"/>
                <a:ea typeface="Cambria" pitchFamily="34" charset="-122"/>
                <a:cs typeface="Cambria" pitchFamily="34" charset="-120"/>
              </a:rPr>
              <a:t>Determinantes sociales</a:t>
            </a:r>
            <a:endParaRPr lang="en-US" sz="1900" dirty="0"/>
          </a:p>
        </p:txBody>
      </p:sp>
      <p:sp>
        <p:nvSpPr>
          <p:cNvPr id="7" name="Text 4"/>
          <p:cNvSpPr txBox="1"/>
          <p:nvPr/>
        </p:nvSpPr>
        <p:spPr>
          <a:xfrm>
            <a:off x="868680" y="2560320"/>
            <a:ext cx="4768596" cy="1965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3B444C"/>
                </a:solidFill>
                <a:latin typeface="Calibri" pitchFamily="34" charset="0"/>
                <a:ea typeface="Calibri" pitchFamily="34" charset="-122"/>
                <a:cs typeface="Calibri" pitchFamily="34" charset="-120"/>
              </a:rPr>
              <a:t>Fuentes de tensión: universidad (13) y prácticas (11)</a:t>
            </a:r>
            <a:endParaRPr lang="en-US" sz="1500" dirty="0"/>
          </a:p>
          <a:p>
            <a:pPr marL="203200" indent="-203200">
              <a:spcAft>
                <a:spcPts val="600"/>
              </a:spcAft>
              <a:buSzPct val="100000"/>
              <a:buChar char="•"/>
            </a:pPr>
            <a:r>
              <a:rPr lang="en-US" sz="1500" dirty="0">
                <a:solidFill>
                  <a:srgbClr val="3B444C"/>
                </a:solidFill>
                <a:latin typeface="Calibri" pitchFamily="34" charset="0"/>
                <a:ea typeface="Calibri" pitchFamily="34" charset="-122"/>
                <a:cs typeface="Calibri" pitchFamily="34" charset="-120"/>
              </a:rPr>
              <a:t>Prácticas con cuotas, sin capacitación, trato diferenciado o maltrato verbal</a:t>
            </a:r>
            <a:endParaRPr lang="en-US" sz="1500" dirty="0"/>
          </a:p>
          <a:p>
            <a:pPr marL="203200" indent="-203200">
              <a:spcAft>
                <a:spcPts val="600"/>
              </a:spcAft>
              <a:buSzPct val="100000"/>
              <a:buChar char="•"/>
            </a:pPr>
            <a:r>
              <a:rPr lang="en-US" sz="1500" dirty="0">
                <a:solidFill>
                  <a:srgbClr val="3B444C"/>
                </a:solidFill>
                <a:latin typeface="Calibri" pitchFamily="34" charset="0"/>
                <a:ea typeface="Calibri" pitchFamily="34" charset="-122"/>
                <a:cs typeface="Calibri" pitchFamily="34" charset="-120"/>
              </a:rPr>
              <a:t>Dificultad económica en 3 casos: J.C, A.F y S.G</a:t>
            </a:r>
            <a:endParaRPr lang="en-US" sz="1500" dirty="0"/>
          </a:p>
          <a:p>
            <a:pPr marL="203200" indent="-203200">
              <a:spcAft>
                <a:spcPts val="600"/>
              </a:spcAft>
              <a:buSzPct val="100000"/>
              <a:buChar char="•"/>
            </a:pPr>
            <a:r>
              <a:rPr lang="en-US" sz="1500" dirty="0">
                <a:solidFill>
                  <a:srgbClr val="3B444C"/>
                </a:solidFill>
                <a:latin typeface="Calibri" pitchFamily="34" charset="0"/>
                <a:ea typeface="Calibri" pitchFamily="34" charset="-122"/>
                <a:cs typeface="Calibri" pitchFamily="34" charset="-120"/>
              </a:rPr>
              <a:t>Inseguridad en la zona en 3 casos</a:t>
            </a:r>
            <a:endParaRPr lang="en-US" sz="1500" dirty="0"/>
          </a:p>
        </p:txBody>
      </p:sp>
      <p:sp>
        <p:nvSpPr>
          <p:cNvPr id="8" name="Tarjeta Rasgos de personalidad"/>
          <p:cNvSpPr/>
          <p:nvPr/>
        </p:nvSpPr>
        <p:spPr>
          <a:xfrm>
            <a:off x="6277356" y="1508760"/>
            <a:ext cx="5362956" cy="3154680"/>
          </a:xfrm>
          <a:prstGeom prst="roundRect">
            <a:avLst>
              <a:gd name="adj" fmla="val 3478"/>
            </a:avLst>
          </a:prstGeom>
          <a:solidFill>
            <a:srgbClr val="F3F4F4"/>
          </a:solidFill>
          <a:ln/>
        </p:spPr>
      </p:sp>
      <p:sp>
        <p:nvSpPr>
          <p:cNvPr id="9" name="Ícono Rasgos de personalidad círculo"/>
          <p:cNvSpPr/>
          <p:nvPr/>
        </p:nvSpPr>
        <p:spPr>
          <a:xfrm>
            <a:off x="6597396" y="1737360"/>
            <a:ext cx="640080" cy="640080"/>
          </a:xfrm>
          <a:prstGeom prst="ellipse">
            <a:avLst/>
          </a:prstGeom>
          <a:solidFill>
            <a:srgbClr val="D9622B"/>
          </a:solidFill>
          <a:ln/>
        </p:spPr>
      </p:sp>
      <p:pic>
        <p:nvPicPr>
          <p:cNvPr id="10" name="Ícono Rasgos de personalidad" descr="preencoded.png">    </p:cNvPr>
          <p:cNvPicPr>
            <a:picLocks noChangeAspect="1"/>
          </p:cNvPicPr>
          <p:nvPr/>
        </p:nvPicPr>
        <p:blipFill>
          <a:blip r:embed="rId2"/>
          <a:stretch>
            <a:fillRect/>
          </a:stretch>
        </p:blipFill>
        <p:spPr>
          <a:xfrm>
            <a:off x="6744614" y="1884578"/>
            <a:ext cx="345643" cy="345643"/>
          </a:xfrm>
          <a:prstGeom prst="rect">
            <a:avLst/>
          </a:prstGeom>
        </p:spPr>
      </p:pic>
      <p:sp>
        <p:nvSpPr>
          <p:cNvPr id="11" name="Text 7"/>
          <p:cNvSpPr txBox="1"/>
          <p:nvPr/>
        </p:nvSpPr>
        <p:spPr>
          <a:xfrm>
            <a:off x="7420356" y="1737360"/>
            <a:ext cx="3991356" cy="640080"/>
          </a:xfrm>
          <a:prstGeom prst="rect">
            <a:avLst/>
          </a:prstGeom>
          <a:noFill/>
          <a:ln/>
        </p:spPr>
        <p:txBody>
          <a:bodyPr wrap="square" lIns="0" tIns="0" rIns="0" bIns="0" rtlCol="0" anchor="ctr"/>
          <a:lstStyle/>
          <a:p>
            <a:pPr indent="0" marL="0">
              <a:buNone/>
            </a:pPr>
            <a:r>
              <a:rPr lang="en-US" sz="1900" b="1" dirty="0">
                <a:solidFill>
                  <a:srgbClr val="24313A"/>
                </a:solidFill>
                <a:latin typeface="Cambria" pitchFamily="34" charset="0"/>
                <a:ea typeface="Cambria" pitchFamily="34" charset="-122"/>
                <a:cs typeface="Cambria" pitchFamily="34" charset="-120"/>
              </a:rPr>
              <a:t>Rasgos de personalidad</a:t>
            </a:r>
            <a:endParaRPr lang="en-US" sz="1900" dirty="0"/>
          </a:p>
        </p:txBody>
      </p:sp>
      <p:sp>
        <p:nvSpPr>
          <p:cNvPr id="12" name="Text 8"/>
          <p:cNvSpPr txBox="1"/>
          <p:nvPr/>
        </p:nvSpPr>
        <p:spPr>
          <a:xfrm>
            <a:off x="6597396" y="2560320"/>
            <a:ext cx="4768596" cy="1965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3B444C"/>
                </a:solidFill>
                <a:latin typeface="Calibri" pitchFamily="34" charset="0"/>
                <a:ea typeface="Calibri" pitchFamily="34" charset="-122"/>
                <a:cs typeface="Calibri" pitchFamily="34" charset="-120"/>
              </a:rPr>
              <a:t>La autoexigencia aparece con síntomas: perfeccionismo, sobrepensamiento y autocrítica (Lunn et al., 2023)</a:t>
            </a:r>
            <a:endParaRPr lang="en-US" sz="1500" dirty="0"/>
          </a:p>
          <a:p>
            <a:pPr marL="203200" indent="-203200">
              <a:spcAft>
                <a:spcPts val="600"/>
              </a:spcAft>
              <a:buSzPct val="100000"/>
              <a:buChar char="•"/>
            </a:pPr>
            <a:r>
              <a:rPr lang="en-US" sz="1500" dirty="0">
                <a:solidFill>
                  <a:srgbClr val="3B444C"/>
                </a:solidFill>
                <a:latin typeface="Calibri" pitchFamily="34" charset="0"/>
                <a:ea typeface="Calibri" pitchFamily="34" charset="-122"/>
                <a:cs typeface="Calibri" pitchFamily="34" charset="-120"/>
              </a:rPr>
              <a:t>Mudarse sola o lograr resultados en las prácticas fortaleció la confianza</a:t>
            </a:r>
            <a:endParaRPr lang="en-US" sz="1500" dirty="0"/>
          </a:p>
          <a:p>
            <a:pPr marL="203200" indent="-203200">
              <a:spcAft>
                <a:spcPts val="600"/>
              </a:spcAft>
              <a:buSzPct val="100000"/>
              <a:buChar char="•"/>
            </a:pPr>
            <a:r>
              <a:rPr lang="en-US" sz="1500" dirty="0">
                <a:solidFill>
                  <a:srgbClr val="3B444C"/>
                </a:solidFill>
                <a:latin typeface="Calibri" pitchFamily="34" charset="0"/>
                <a:ea typeface="Calibri" pitchFamily="34" charset="-122"/>
                <a:cs typeface="Calibri" pitchFamily="34" charset="-120"/>
              </a:rPr>
              <a:t>La búsqueda del grupo se asocia con más alcohol, como en S.C (Lui et al., 2022)</a:t>
            </a:r>
            <a:endParaRPr lang="en-US" sz="1500" dirty="0"/>
          </a:p>
        </p:txBody>
      </p:sp>
      <p:sp>
        <p:nvSpPr>
          <p:cNvPr id="13" name="Franja asociaciones"/>
          <p:cNvSpPr/>
          <p:nvPr/>
        </p:nvSpPr>
        <p:spPr>
          <a:xfrm>
            <a:off x="548640" y="4937760"/>
            <a:ext cx="11091672" cy="914400"/>
          </a:xfrm>
          <a:prstGeom prst="roundRect">
            <a:avLst>
              <a:gd name="adj" fmla="val 12000"/>
            </a:avLst>
          </a:prstGeom>
          <a:solidFill>
            <a:srgbClr val="24313A"/>
          </a:solidFill>
          <a:ln/>
        </p:spPr>
      </p:sp>
      <p:sp>
        <p:nvSpPr>
          <p:cNvPr id="14" name="Ícono advertencia círculo"/>
          <p:cNvSpPr/>
          <p:nvPr/>
        </p:nvSpPr>
        <p:spPr>
          <a:xfrm>
            <a:off x="822960" y="5120640"/>
            <a:ext cx="548640" cy="548640"/>
          </a:xfrm>
          <a:prstGeom prst="ellipse">
            <a:avLst/>
          </a:prstGeom>
          <a:solidFill>
            <a:srgbClr val="D9622B"/>
          </a:solidFill>
          <a:ln/>
        </p:spPr>
      </p:sp>
      <p:pic>
        <p:nvPicPr>
          <p:cNvPr id="15" name="Ícono advertencia" descr="preencoded.png">    </p:cNvPr>
          <p:cNvPicPr>
            <a:picLocks noChangeAspect="1"/>
          </p:cNvPicPr>
          <p:nvPr/>
        </p:nvPicPr>
        <p:blipFill>
          <a:blip r:embed="rId3"/>
          <a:stretch>
            <a:fillRect/>
          </a:stretch>
        </p:blipFill>
        <p:spPr>
          <a:xfrm>
            <a:off x="949147" y="5246827"/>
            <a:ext cx="296266" cy="296266"/>
          </a:xfrm>
          <a:prstGeom prst="rect">
            <a:avLst/>
          </a:prstGeom>
        </p:spPr>
      </p:pic>
      <p:sp>
        <p:nvSpPr>
          <p:cNvPr id="16" name="Text 11"/>
          <p:cNvSpPr txBox="1"/>
          <p:nvPr/>
        </p:nvSpPr>
        <p:spPr>
          <a:xfrm>
            <a:off x="1645920" y="4983480"/>
            <a:ext cx="9738360" cy="8229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Son asociaciones, no causas: la mayoría tiene soporte familiar, vivienda y seguro, y los rasgos median cómo vive la exigencia.</a:t>
            </a:r>
            <a:endParaRPr lang="en-US" sz="1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Conductas que acompañan al estrés</a:t>
            </a:r>
            <a:endParaRPr lang="en-US" sz="2600" dirty="0"/>
          </a:p>
        </p:txBody>
      </p:sp>
      <p:sp>
        <p:nvSpPr>
          <p:cNvPr id="3" name="Tarjeta Alcohol"/>
          <p:cNvSpPr/>
          <p:nvPr/>
        </p:nvSpPr>
        <p:spPr>
          <a:xfrm>
            <a:off x="548640" y="1508760"/>
            <a:ext cx="5362956" cy="2103120"/>
          </a:xfrm>
          <a:prstGeom prst="roundRect">
            <a:avLst>
              <a:gd name="adj" fmla="val 5217"/>
            </a:avLst>
          </a:prstGeom>
          <a:solidFill>
            <a:srgbClr val="F3F4F4"/>
          </a:solidFill>
          <a:ln/>
        </p:spPr>
      </p:sp>
      <p:sp>
        <p:nvSpPr>
          <p:cNvPr id="4" name="Ícono Alcohol círculo"/>
          <p:cNvSpPr/>
          <p:nvPr/>
        </p:nvSpPr>
        <p:spPr>
          <a:xfrm>
            <a:off x="868680" y="1828800"/>
            <a:ext cx="777240" cy="777240"/>
          </a:xfrm>
          <a:prstGeom prst="ellipse">
            <a:avLst/>
          </a:prstGeom>
          <a:solidFill>
            <a:srgbClr val="2E6E73"/>
          </a:solidFill>
          <a:ln/>
        </p:spPr>
      </p:sp>
      <p:pic>
        <p:nvPicPr>
          <p:cNvPr id="5" name="Ícono Alcohol" descr="preencoded.png">    </p:cNvPr>
          <p:cNvPicPr>
            <a:picLocks noChangeAspect="1"/>
          </p:cNvPicPr>
          <p:nvPr/>
        </p:nvPicPr>
        <p:blipFill>
          <a:blip r:embed="rId1"/>
          <a:stretch>
            <a:fillRect/>
          </a:stretch>
        </p:blipFill>
        <p:spPr>
          <a:xfrm>
            <a:off x="1047445" y="2007565"/>
            <a:ext cx="419710" cy="419710"/>
          </a:xfrm>
          <a:prstGeom prst="rect">
            <a:avLst/>
          </a:prstGeom>
        </p:spPr>
      </p:pic>
      <p:sp>
        <p:nvSpPr>
          <p:cNvPr id="6" name="Text 3"/>
          <p:cNvSpPr txBox="1"/>
          <p:nvPr/>
        </p:nvSpPr>
        <p:spPr>
          <a:xfrm>
            <a:off x="1920240" y="1828800"/>
            <a:ext cx="3717036" cy="411480"/>
          </a:xfrm>
          <a:prstGeom prst="rect">
            <a:avLst/>
          </a:prstGeom>
          <a:noFill/>
          <a:ln/>
        </p:spPr>
        <p:txBody>
          <a:bodyPr wrap="square" lIns="0" tIns="0" rIns="0" bIns="0" rtlCol="0" anchor="t"/>
          <a:lstStyle/>
          <a:p>
            <a:pPr indent="0" marL="0">
              <a:buNone/>
            </a:pPr>
            <a:r>
              <a:rPr lang="en-US" sz="1900" b="1" dirty="0">
                <a:solidFill>
                  <a:srgbClr val="24313A"/>
                </a:solidFill>
                <a:latin typeface="Cambria" pitchFamily="34" charset="0"/>
                <a:ea typeface="Cambria" pitchFamily="34" charset="-122"/>
                <a:cs typeface="Cambria" pitchFamily="34" charset="-120"/>
              </a:rPr>
              <a:t>Alcohol</a:t>
            </a:r>
            <a:endParaRPr lang="en-US" sz="1900" dirty="0"/>
          </a:p>
        </p:txBody>
      </p:sp>
      <p:sp>
        <p:nvSpPr>
          <p:cNvPr id="7" name="Text 4"/>
          <p:cNvSpPr txBox="1"/>
          <p:nvPr/>
        </p:nvSpPr>
        <p:spPr>
          <a:xfrm>
            <a:off x="1920240" y="2313432"/>
            <a:ext cx="3717036" cy="1097280"/>
          </a:xfrm>
          <a:prstGeom prst="rect">
            <a:avLst/>
          </a:prstGeom>
          <a:noFill/>
          <a:ln/>
        </p:spPr>
        <p:txBody>
          <a:bodyPr wrap="square" lIns="0" tIns="0" rIns="0" bIns="0" rtlCol="0" anchor="t"/>
          <a:lstStyle/>
          <a:p>
            <a:pPr indent="0" marL="0">
              <a:buNone/>
            </a:pPr>
            <a:r>
              <a:rPr lang="en-US" sz="1600" dirty="0">
                <a:solidFill>
                  <a:srgbClr val="3B444C"/>
                </a:solidFill>
                <a:latin typeface="Calibri" pitchFamily="34" charset="0"/>
                <a:ea typeface="Calibri" pitchFamily="34" charset="-122"/>
                <a:cs typeface="Calibri" pitchFamily="34" charset="-120"/>
              </a:rPr>
              <a:t>En 10 cuadros, sobre todo los fines de semana. V.T (1) sale a tomar para desestresarse.</a:t>
            </a:r>
            <a:endParaRPr lang="en-US" sz="1600" dirty="0"/>
          </a:p>
        </p:txBody>
      </p:sp>
      <p:sp>
        <p:nvSpPr>
          <p:cNvPr id="8" name="Tarjeta Sueño"/>
          <p:cNvSpPr/>
          <p:nvPr/>
        </p:nvSpPr>
        <p:spPr>
          <a:xfrm>
            <a:off x="6277356" y="1508760"/>
            <a:ext cx="5362956" cy="2103120"/>
          </a:xfrm>
          <a:prstGeom prst="roundRect">
            <a:avLst>
              <a:gd name="adj" fmla="val 5217"/>
            </a:avLst>
          </a:prstGeom>
          <a:solidFill>
            <a:srgbClr val="F3F4F4"/>
          </a:solidFill>
          <a:ln/>
        </p:spPr>
      </p:sp>
      <p:sp>
        <p:nvSpPr>
          <p:cNvPr id="9" name="Ícono Sueño círculo"/>
          <p:cNvSpPr/>
          <p:nvPr/>
        </p:nvSpPr>
        <p:spPr>
          <a:xfrm>
            <a:off x="6597396" y="1828800"/>
            <a:ext cx="777240" cy="777240"/>
          </a:xfrm>
          <a:prstGeom prst="ellipse">
            <a:avLst/>
          </a:prstGeom>
          <a:solidFill>
            <a:srgbClr val="2E6E73"/>
          </a:solidFill>
          <a:ln/>
        </p:spPr>
      </p:sp>
      <p:pic>
        <p:nvPicPr>
          <p:cNvPr id="10" name="Ícono Sueño" descr="preencoded.png">    </p:cNvPr>
          <p:cNvPicPr>
            <a:picLocks noChangeAspect="1"/>
          </p:cNvPicPr>
          <p:nvPr/>
        </p:nvPicPr>
        <p:blipFill>
          <a:blip r:embed="rId2"/>
          <a:stretch>
            <a:fillRect/>
          </a:stretch>
        </p:blipFill>
        <p:spPr>
          <a:xfrm>
            <a:off x="6776161" y="2007565"/>
            <a:ext cx="419710" cy="419710"/>
          </a:xfrm>
          <a:prstGeom prst="rect">
            <a:avLst/>
          </a:prstGeom>
        </p:spPr>
      </p:pic>
      <p:sp>
        <p:nvSpPr>
          <p:cNvPr id="11" name="Text 7"/>
          <p:cNvSpPr txBox="1"/>
          <p:nvPr/>
        </p:nvSpPr>
        <p:spPr>
          <a:xfrm>
            <a:off x="7648956" y="1828800"/>
            <a:ext cx="3717036" cy="411480"/>
          </a:xfrm>
          <a:prstGeom prst="rect">
            <a:avLst/>
          </a:prstGeom>
          <a:noFill/>
          <a:ln/>
        </p:spPr>
        <p:txBody>
          <a:bodyPr wrap="square" lIns="0" tIns="0" rIns="0" bIns="0" rtlCol="0" anchor="t"/>
          <a:lstStyle/>
          <a:p>
            <a:pPr indent="0" marL="0">
              <a:buNone/>
            </a:pPr>
            <a:r>
              <a:rPr lang="en-US" sz="1900" b="1" dirty="0">
                <a:solidFill>
                  <a:srgbClr val="24313A"/>
                </a:solidFill>
                <a:latin typeface="Cambria" pitchFamily="34" charset="0"/>
                <a:ea typeface="Cambria" pitchFamily="34" charset="-122"/>
                <a:cs typeface="Cambria" pitchFamily="34" charset="-120"/>
              </a:rPr>
              <a:t>Sueño</a:t>
            </a:r>
            <a:endParaRPr lang="en-US" sz="1900" dirty="0"/>
          </a:p>
        </p:txBody>
      </p:sp>
      <p:sp>
        <p:nvSpPr>
          <p:cNvPr id="12" name="Text 8"/>
          <p:cNvSpPr txBox="1"/>
          <p:nvPr/>
        </p:nvSpPr>
        <p:spPr>
          <a:xfrm>
            <a:off x="7648956" y="2313432"/>
            <a:ext cx="3717036" cy="1097280"/>
          </a:xfrm>
          <a:prstGeom prst="rect">
            <a:avLst/>
          </a:prstGeom>
          <a:noFill/>
          <a:ln/>
        </p:spPr>
        <p:txBody>
          <a:bodyPr wrap="square" lIns="0" tIns="0" rIns="0" bIns="0" rtlCol="0" anchor="t"/>
          <a:lstStyle/>
          <a:p>
            <a:pPr indent="0" marL="0">
              <a:buNone/>
            </a:pPr>
            <a:r>
              <a:rPr lang="en-US" sz="1600" dirty="0">
                <a:solidFill>
                  <a:srgbClr val="3B444C"/>
                </a:solidFill>
                <a:latin typeface="Calibri" pitchFamily="34" charset="0"/>
                <a:ea typeface="Calibri" pitchFamily="34" charset="-122"/>
                <a:cs typeface="Calibri" pitchFamily="34" charset="-120"/>
              </a:rPr>
              <a:t>9 de 20 duermen poco, 8 de ellos trabajan. El mal sueño se asocia con el estrés (Gardani et al., 2022).</a:t>
            </a:r>
            <a:endParaRPr lang="en-US" sz="1600" dirty="0"/>
          </a:p>
        </p:txBody>
      </p:sp>
      <p:sp>
        <p:nvSpPr>
          <p:cNvPr id="13" name="Tarjeta Actividad física"/>
          <p:cNvSpPr/>
          <p:nvPr/>
        </p:nvSpPr>
        <p:spPr>
          <a:xfrm>
            <a:off x="548640" y="3886200"/>
            <a:ext cx="5362956" cy="2103120"/>
          </a:xfrm>
          <a:prstGeom prst="roundRect">
            <a:avLst>
              <a:gd name="adj" fmla="val 5217"/>
            </a:avLst>
          </a:prstGeom>
          <a:solidFill>
            <a:srgbClr val="F3F4F4"/>
          </a:solidFill>
          <a:ln/>
        </p:spPr>
      </p:sp>
      <p:sp>
        <p:nvSpPr>
          <p:cNvPr id="14" name="Ícono Actividad física círculo"/>
          <p:cNvSpPr/>
          <p:nvPr/>
        </p:nvSpPr>
        <p:spPr>
          <a:xfrm>
            <a:off x="868680" y="4206240"/>
            <a:ext cx="777240" cy="777240"/>
          </a:xfrm>
          <a:prstGeom prst="ellipse">
            <a:avLst/>
          </a:prstGeom>
          <a:solidFill>
            <a:srgbClr val="2E6E73"/>
          </a:solidFill>
          <a:ln/>
        </p:spPr>
      </p:sp>
      <p:pic>
        <p:nvPicPr>
          <p:cNvPr id="15" name="Ícono Actividad física" descr="preencoded.png">    </p:cNvPr>
          <p:cNvPicPr>
            <a:picLocks noChangeAspect="1"/>
          </p:cNvPicPr>
          <p:nvPr/>
        </p:nvPicPr>
        <p:blipFill>
          <a:blip r:embed="rId3"/>
          <a:stretch>
            <a:fillRect/>
          </a:stretch>
        </p:blipFill>
        <p:spPr>
          <a:xfrm>
            <a:off x="1047445" y="4385005"/>
            <a:ext cx="419710" cy="419710"/>
          </a:xfrm>
          <a:prstGeom prst="rect">
            <a:avLst/>
          </a:prstGeom>
        </p:spPr>
      </p:pic>
      <p:sp>
        <p:nvSpPr>
          <p:cNvPr id="16" name="Text 11"/>
          <p:cNvSpPr txBox="1"/>
          <p:nvPr/>
        </p:nvSpPr>
        <p:spPr>
          <a:xfrm>
            <a:off x="1920240" y="4206240"/>
            <a:ext cx="3717036" cy="411480"/>
          </a:xfrm>
          <a:prstGeom prst="rect">
            <a:avLst/>
          </a:prstGeom>
          <a:noFill/>
          <a:ln/>
        </p:spPr>
        <p:txBody>
          <a:bodyPr wrap="square" lIns="0" tIns="0" rIns="0" bIns="0" rtlCol="0" anchor="t"/>
          <a:lstStyle/>
          <a:p>
            <a:pPr indent="0" marL="0">
              <a:buNone/>
            </a:pPr>
            <a:r>
              <a:rPr lang="en-US" sz="1900" b="1" dirty="0">
                <a:solidFill>
                  <a:srgbClr val="24313A"/>
                </a:solidFill>
                <a:latin typeface="Cambria" pitchFamily="34" charset="0"/>
                <a:ea typeface="Cambria" pitchFamily="34" charset="-122"/>
                <a:cs typeface="Cambria" pitchFamily="34" charset="-120"/>
              </a:rPr>
              <a:t>Actividad física</a:t>
            </a:r>
            <a:endParaRPr lang="en-US" sz="1900" dirty="0"/>
          </a:p>
        </p:txBody>
      </p:sp>
      <p:sp>
        <p:nvSpPr>
          <p:cNvPr id="17" name="Text 12"/>
          <p:cNvSpPr txBox="1"/>
          <p:nvPr/>
        </p:nvSpPr>
        <p:spPr>
          <a:xfrm>
            <a:off x="1920240" y="4690872"/>
            <a:ext cx="3717036" cy="1097280"/>
          </a:xfrm>
          <a:prstGeom prst="rect">
            <a:avLst/>
          </a:prstGeom>
          <a:noFill/>
          <a:ln/>
        </p:spPr>
        <p:txBody>
          <a:bodyPr wrap="square" lIns="0" tIns="0" rIns="0" bIns="0" rtlCol="0" anchor="t"/>
          <a:lstStyle/>
          <a:p>
            <a:pPr indent="0" marL="0">
              <a:buNone/>
            </a:pPr>
            <a:r>
              <a:rPr lang="en-US" sz="1600" dirty="0">
                <a:solidFill>
                  <a:srgbClr val="3B444C"/>
                </a:solidFill>
                <a:latin typeface="Calibri" pitchFamily="34" charset="0"/>
                <a:ea typeface="Calibri" pitchFamily="34" charset="-122"/>
                <a:cs typeface="Calibri" pitchFamily="34" charset="-120"/>
              </a:rPr>
              <a:t>Protege a 8 participantes (Singh et al., 2023), pero en J.V y V.T (2) se vuelve exceso.</a:t>
            </a:r>
            <a:endParaRPr lang="en-US" sz="1600" dirty="0"/>
          </a:p>
        </p:txBody>
      </p:sp>
      <p:sp>
        <p:nvSpPr>
          <p:cNvPr id="18" name="Tarjeta Evaluación individual"/>
          <p:cNvSpPr/>
          <p:nvPr/>
        </p:nvSpPr>
        <p:spPr>
          <a:xfrm>
            <a:off x="6277356" y="3886200"/>
            <a:ext cx="5362956" cy="2103120"/>
          </a:xfrm>
          <a:prstGeom prst="roundRect">
            <a:avLst>
              <a:gd name="adj" fmla="val 5217"/>
            </a:avLst>
          </a:prstGeom>
          <a:solidFill>
            <a:srgbClr val="F3F4F4"/>
          </a:solidFill>
          <a:ln/>
        </p:spPr>
      </p:sp>
      <p:sp>
        <p:nvSpPr>
          <p:cNvPr id="19" name="Ícono Evaluación individual círculo"/>
          <p:cNvSpPr/>
          <p:nvPr/>
        </p:nvSpPr>
        <p:spPr>
          <a:xfrm>
            <a:off x="6597396" y="4206240"/>
            <a:ext cx="777240" cy="777240"/>
          </a:xfrm>
          <a:prstGeom prst="ellipse">
            <a:avLst/>
          </a:prstGeom>
          <a:solidFill>
            <a:srgbClr val="D9622B"/>
          </a:solidFill>
          <a:ln/>
        </p:spPr>
      </p:sp>
      <p:pic>
        <p:nvPicPr>
          <p:cNvPr id="20" name="Ícono Evaluación individual" descr="preencoded.png">    </p:cNvPr>
          <p:cNvPicPr>
            <a:picLocks noChangeAspect="1"/>
          </p:cNvPicPr>
          <p:nvPr/>
        </p:nvPicPr>
        <p:blipFill>
          <a:blip r:embed="rId4"/>
          <a:stretch>
            <a:fillRect/>
          </a:stretch>
        </p:blipFill>
        <p:spPr>
          <a:xfrm>
            <a:off x="6776161" y="4385005"/>
            <a:ext cx="419710" cy="419710"/>
          </a:xfrm>
          <a:prstGeom prst="rect">
            <a:avLst/>
          </a:prstGeom>
        </p:spPr>
      </p:pic>
      <p:sp>
        <p:nvSpPr>
          <p:cNvPr id="21" name="Text 15"/>
          <p:cNvSpPr txBox="1"/>
          <p:nvPr/>
        </p:nvSpPr>
        <p:spPr>
          <a:xfrm>
            <a:off x="7648956" y="4206240"/>
            <a:ext cx="3717036" cy="411480"/>
          </a:xfrm>
          <a:prstGeom prst="rect">
            <a:avLst/>
          </a:prstGeom>
          <a:noFill/>
          <a:ln/>
        </p:spPr>
        <p:txBody>
          <a:bodyPr wrap="square" lIns="0" tIns="0" rIns="0" bIns="0" rtlCol="0" anchor="t"/>
          <a:lstStyle/>
          <a:p>
            <a:pPr indent="0" marL="0">
              <a:buNone/>
            </a:pPr>
            <a:r>
              <a:rPr lang="en-US" sz="1900" b="1" dirty="0">
                <a:solidFill>
                  <a:srgbClr val="24313A"/>
                </a:solidFill>
                <a:latin typeface="Cambria" pitchFamily="34" charset="0"/>
                <a:ea typeface="Cambria" pitchFamily="34" charset="-122"/>
                <a:cs typeface="Cambria" pitchFamily="34" charset="-120"/>
              </a:rPr>
              <a:t>Evaluación individual</a:t>
            </a:r>
            <a:endParaRPr lang="en-US" sz="1900" dirty="0"/>
          </a:p>
        </p:txBody>
      </p:sp>
      <p:sp>
        <p:nvSpPr>
          <p:cNvPr id="22" name="Text 16"/>
          <p:cNvSpPr txBox="1"/>
          <p:nvPr/>
        </p:nvSpPr>
        <p:spPr>
          <a:xfrm>
            <a:off x="7648956" y="4690872"/>
            <a:ext cx="3717036" cy="1097280"/>
          </a:xfrm>
          <a:prstGeom prst="rect">
            <a:avLst/>
          </a:prstGeom>
          <a:noFill/>
          <a:ln/>
        </p:spPr>
        <p:txBody>
          <a:bodyPr wrap="square" lIns="0" tIns="0" rIns="0" bIns="0" rtlCol="0" anchor="t"/>
          <a:lstStyle/>
          <a:p>
            <a:pPr indent="0" marL="0">
              <a:buNone/>
            </a:pPr>
            <a:r>
              <a:rPr lang="en-US" sz="1600" dirty="0">
                <a:solidFill>
                  <a:srgbClr val="3B444C"/>
                </a:solidFill>
                <a:latin typeface="Calibri" pitchFamily="34" charset="0"/>
                <a:ea typeface="Calibri" pitchFamily="34" charset="-122"/>
                <a:cs typeface="Calibri" pitchFamily="34" charset="-120"/>
              </a:rPr>
              <a:t>V.T (2), J.V, V.L y G.P: ejercicio excesivo, dieta restrictiva, dejar de comer y agresividad.</a:t>
            </a:r>
            <a:endParaRPr lang="en-US" sz="1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El estrés aparece aunque el IDH sea alto</a:t>
            </a:r>
            <a:endParaRPr lang="en-US" sz="2600" dirty="0"/>
          </a:p>
        </p:txBody>
      </p:sp>
      <p:sp>
        <p:nvSpPr>
          <p:cNvPr id="3" name="Ícono Vida larga y saludable círculo"/>
          <p:cNvSpPr/>
          <p:nvPr/>
        </p:nvSpPr>
        <p:spPr>
          <a:xfrm>
            <a:off x="548640" y="1554480"/>
            <a:ext cx="685800" cy="685800"/>
          </a:xfrm>
          <a:prstGeom prst="ellipse">
            <a:avLst/>
          </a:prstGeom>
          <a:solidFill>
            <a:srgbClr val="2E6E73"/>
          </a:solidFill>
          <a:ln/>
        </p:spPr>
      </p:sp>
      <p:pic>
        <p:nvPicPr>
          <p:cNvPr id="4" name="Ícono Vida larga y saludable" descr="preencoded.png">    </p:cNvPr>
          <p:cNvPicPr>
            <a:picLocks noChangeAspect="1"/>
          </p:cNvPicPr>
          <p:nvPr/>
        </p:nvPicPr>
        <p:blipFill>
          <a:blip r:embed="rId1"/>
          <a:stretch>
            <a:fillRect/>
          </a:stretch>
        </p:blipFill>
        <p:spPr>
          <a:xfrm>
            <a:off x="706374" y="1712214"/>
            <a:ext cx="370332" cy="370332"/>
          </a:xfrm>
          <a:prstGeom prst="rect">
            <a:avLst/>
          </a:prstGeom>
        </p:spPr>
      </p:pic>
      <p:sp>
        <p:nvSpPr>
          <p:cNvPr id="5" name="Text 2"/>
          <p:cNvSpPr txBox="1"/>
          <p:nvPr/>
        </p:nvSpPr>
        <p:spPr>
          <a:xfrm>
            <a:off x="1463040" y="1508760"/>
            <a:ext cx="4572000" cy="365760"/>
          </a:xfrm>
          <a:prstGeom prst="rect">
            <a:avLst/>
          </a:prstGeom>
          <a:noFill/>
          <a:ln/>
        </p:spPr>
        <p:txBody>
          <a:bodyPr wrap="square" lIns="0" tIns="0" rIns="0" bIns="0" rtlCol="0" anchor="t"/>
          <a:lstStyle/>
          <a:p>
            <a:pPr indent="0" marL="0">
              <a:buNone/>
            </a:pPr>
            <a:r>
              <a:rPr lang="en-US" sz="1700" b="1" dirty="0">
                <a:solidFill>
                  <a:srgbClr val="24313A"/>
                </a:solidFill>
                <a:latin typeface="Cambria" pitchFamily="34" charset="0"/>
                <a:ea typeface="Cambria" pitchFamily="34" charset="-122"/>
                <a:cs typeface="Cambria" pitchFamily="34" charset="-120"/>
              </a:rPr>
              <a:t>Vida larga y saludable</a:t>
            </a:r>
            <a:endParaRPr lang="en-US" sz="1700" dirty="0"/>
          </a:p>
        </p:txBody>
      </p:sp>
      <p:sp>
        <p:nvSpPr>
          <p:cNvPr id="6" name="Text 3"/>
          <p:cNvSpPr txBox="1"/>
          <p:nvPr/>
        </p:nvSpPr>
        <p:spPr>
          <a:xfrm>
            <a:off x="1463040" y="1920240"/>
            <a:ext cx="4572000" cy="914400"/>
          </a:xfrm>
          <a:prstGeom prst="rect">
            <a:avLst/>
          </a:prstGeom>
          <a:noFill/>
          <a:ln/>
        </p:spPr>
        <p:txBody>
          <a:bodyPr wrap="square" lIns="0" tIns="0" rIns="0" bIns="0" rtlCol="0" anchor="t"/>
          <a:lstStyle/>
          <a:p>
            <a:pPr indent="0" marL="0">
              <a:buNone/>
            </a:pPr>
            <a:r>
              <a:rPr lang="en-US" sz="1400" dirty="0">
                <a:solidFill>
                  <a:srgbClr val="3B444C"/>
                </a:solidFill>
                <a:latin typeface="Calibri" pitchFamily="34" charset="0"/>
                <a:ea typeface="Calibri" pitchFamily="34" charset="-122"/>
                <a:cs typeface="Calibri" pitchFamily="34" charset="-120"/>
              </a:rPr>
              <a:t>Tienen seguro y controles, pero el alcohol, el poco sueño y la mala alimentación pueden afectar su salud.</a:t>
            </a:r>
            <a:endParaRPr lang="en-US" sz="1400" dirty="0"/>
          </a:p>
        </p:txBody>
      </p:sp>
      <p:sp>
        <p:nvSpPr>
          <p:cNvPr id="7" name="Ícono Educación círculo"/>
          <p:cNvSpPr/>
          <p:nvPr/>
        </p:nvSpPr>
        <p:spPr>
          <a:xfrm>
            <a:off x="548640" y="3035808"/>
            <a:ext cx="685800" cy="685800"/>
          </a:xfrm>
          <a:prstGeom prst="ellipse">
            <a:avLst/>
          </a:prstGeom>
          <a:solidFill>
            <a:srgbClr val="D9622B"/>
          </a:solidFill>
          <a:ln/>
        </p:spPr>
      </p:sp>
      <p:pic>
        <p:nvPicPr>
          <p:cNvPr id="8" name="Ícono Educación" descr="preencoded.png">    </p:cNvPr>
          <p:cNvPicPr>
            <a:picLocks noChangeAspect="1"/>
          </p:cNvPicPr>
          <p:nvPr/>
        </p:nvPicPr>
        <p:blipFill>
          <a:blip r:embed="rId2"/>
          <a:stretch>
            <a:fillRect/>
          </a:stretch>
        </p:blipFill>
        <p:spPr>
          <a:xfrm>
            <a:off x="706374" y="3193542"/>
            <a:ext cx="370332" cy="370332"/>
          </a:xfrm>
          <a:prstGeom prst="rect">
            <a:avLst/>
          </a:prstGeom>
        </p:spPr>
      </p:pic>
      <p:sp>
        <p:nvSpPr>
          <p:cNvPr id="9" name="Text 5"/>
          <p:cNvSpPr txBox="1"/>
          <p:nvPr/>
        </p:nvSpPr>
        <p:spPr>
          <a:xfrm>
            <a:off x="1463040" y="2990088"/>
            <a:ext cx="4572000" cy="365760"/>
          </a:xfrm>
          <a:prstGeom prst="rect">
            <a:avLst/>
          </a:prstGeom>
          <a:noFill/>
          <a:ln/>
        </p:spPr>
        <p:txBody>
          <a:bodyPr wrap="square" lIns="0" tIns="0" rIns="0" bIns="0" rtlCol="0" anchor="t"/>
          <a:lstStyle/>
          <a:p>
            <a:pPr indent="0" marL="0">
              <a:buNone/>
            </a:pPr>
            <a:r>
              <a:rPr lang="en-US" sz="1700" b="1" dirty="0">
                <a:solidFill>
                  <a:srgbClr val="24313A"/>
                </a:solidFill>
                <a:latin typeface="Cambria" pitchFamily="34" charset="0"/>
                <a:ea typeface="Cambria" pitchFamily="34" charset="-122"/>
                <a:cs typeface="Cambria" pitchFamily="34" charset="-120"/>
              </a:rPr>
              <a:t>Educación</a:t>
            </a:r>
            <a:endParaRPr lang="en-US" sz="1700" dirty="0"/>
          </a:p>
        </p:txBody>
      </p:sp>
      <p:sp>
        <p:nvSpPr>
          <p:cNvPr id="10" name="Text 6"/>
          <p:cNvSpPr txBox="1"/>
          <p:nvPr/>
        </p:nvSpPr>
        <p:spPr>
          <a:xfrm>
            <a:off x="1463040" y="3401568"/>
            <a:ext cx="4572000" cy="914400"/>
          </a:xfrm>
          <a:prstGeom prst="rect">
            <a:avLst/>
          </a:prstGeom>
          <a:noFill/>
          <a:ln/>
        </p:spPr>
        <p:txBody>
          <a:bodyPr wrap="square" lIns="0" tIns="0" rIns="0" bIns="0" rtlCol="0" anchor="t"/>
          <a:lstStyle/>
          <a:p>
            <a:pPr indent="0" marL="0">
              <a:buNone/>
            </a:pPr>
            <a:r>
              <a:rPr lang="en-US" sz="1400" dirty="0">
                <a:solidFill>
                  <a:srgbClr val="3B444C"/>
                </a:solidFill>
                <a:latin typeface="Calibri" pitchFamily="34" charset="0"/>
                <a:ea typeface="Calibri" pitchFamily="34" charset="-122"/>
                <a:cs typeface="Calibri" pitchFamily="34" charset="-120"/>
              </a:rPr>
              <a:t>Todos llegan a la universidad, pero es la principal fuente de estrés. A.F dejó de estudiar un año por dinero.</a:t>
            </a:r>
            <a:endParaRPr lang="en-US" sz="1400" dirty="0"/>
          </a:p>
        </p:txBody>
      </p:sp>
      <p:sp>
        <p:nvSpPr>
          <p:cNvPr id="11" name="Ícono Nivel de vida círculo"/>
          <p:cNvSpPr/>
          <p:nvPr/>
        </p:nvSpPr>
        <p:spPr>
          <a:xfrm>
            <a:off x="548640" y="4517136"/>
            <a:ext cx="685800" cy="685800"/>
          </a:xfrm>
          <a:prstGeom prst="ellipse">
            <a:avLst/>
          </a:prstGeom>
          <a:solidFill>
            <a:srgbClr val="2E6E73"/>
          </a:solidFill>
          <a:ln/>
        </p:spPr>
      </p:sp>
      <p:pic>
        <p:nvPicPr>
          <p:cNvPr id="12" name="Ícono Nivel de vida" descr="preencoded.png">    </p:cNvPr>
          <p:cNvPicPr>
            <a:picLocks noChangeAspect="1"/>
          </p:cNvPicPr>
          <p:nvPr/>
        </p:nvPicPr>
        <p:blipFill>
          <a:blip r:embed="rId3"/>
          <a:stretch>
            <a:fillRect/>
          </a:stretch>
        </p:blipFill>
        <p:spPr>
          <a:xfrm>
            <a:off x="706374" y="4674870"/>
            <a:ext cx="370332" cy="370332"/>
          </a:xfrm>
          <a:prstGeom prst="rect">
            <a:avLst/>
          </a:prstGeom>
        </p:spPr>
      </p:pic>
      <p:sp>
        <p:nvSpPr>
          <p:cNvPr id="13" name="Text 8"/>
          <p:cNvSpPr txBox="1"/>
          <p:nvPr/>
        </p:nvSpPr>
        <p:spPr>
          <a:xfrm>
            <a:off x="1463040" y="4471416"/>
            <a:ext cx="4572000" cy="365760"/>
          </a:xfrm>
          <a:prstGeom prst="rect">
            <a:avLst/>
          </a:prstGeom>
          <a:noFill/>
          <a:ln/>
        </p:spPr>
        <p:txBody>
          <a:bodyPr wrap="square" lIns="0" tIns="0" rIns="0" bIns="0" rtlCol="0" anchor="t"/>
          <a:lstStyle/>
          <a:p>
            <a:pPr indent="0" marL="0">
              <a:buNone/>
            </a:pPr>
            <a:r>
              <a:rPr lang="en-US" sz="1700" b="1" dirty="0">
                <a:solidFill>
                  <a:srgbClr val="24313A"/>
                </a:solidFill>
                <a:latin typeface="Cambria" pitchFamily="34" charset="0"/>
                <a:ea typeface="Cambria" pitchFamily="34" charset="-122"/>
                <a:cs typeface="Cambria" pitchFamily="34" charset="-120"/>
              </a:rPr>
              <a:t>Nivel de vida</a:t>
            </a:r>
            <a:endParaRPr lang="en-US" sz="1700" dirty="0"/>
          </a:p>
        </p:txBody>
      </p:sp>
      <p:sp>
        <p:nvSpPr>
          <p:cNvPr id="14" name="Text 9"/>
          <p:cNvSpPr txBox="1"/>
          <p:nvPr/>
        </p:nvSpPr>
        <p:spPr>
          <a:xfrm>
            <a:off x="1463040" y="4882896"/>
            <a:ext cx="4572000" cy="914400"/>
          </a:xfrm>
          <a:prstGeom prst="rect">
            <a:avLst/>
          </a:prstGeom>
          <a:noFill/>
          <a:ln/>
        </p:spPr>
        <p:txBody>
          <a:bodyPr wrap="square" lIns="0" tIns="0" rIns="0" bIns="0" rtlCol="0" anchor="t"/>
          <a:lstStyle/>
          <a:p>
            <a:pPr indent="0" marL="0">
              <a:buNone/>
            </a:pPr>
            <a:r>
              <a:rPr lang="en-US" sz="1400" dirty="0">
                <a:solidFill>
                  <a:srgbClr val="3B444C"/>
                </a:solidFill>
                <a:latin typeface="Calibri" pitchFamily="34" charset="0"/>
                <a:ea typeface="Calibri" pitchFamily="34" charset="-122"/>
                <a:cs typeface="Calibri" pitchFamily="34" charset="-120"/>
              </a:rPr>
              <a:t>Soporte familiar e ingresos por prácticas. Dificultad económica en 2 de 5 (Mediano Alto) y 1 de 15 (Alto).</a:t>
            </a:r>
            <a:endParaRPr lang="en-US" sz="1400" dirty="0"/>
          </a:p>
        </p:txBody>
      </p:sp>
      <p:graphicFrame>
        <p:nvGraphicFramePr>
          <p:cNvPr id="15" name="Gráfico pérdida por desigualdad" descr=""/>
          <p:cNvGraphicFramePr/>
          <p:nvPr/>
        </p:nvGraphicFramePr>
        <p:xfrm>
          <a:off x="6400800" y="1508760"/>
          <a:ext cx="5239512" cy="443484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Relación con los Objetivos de Desarrollo Sostenible</a:t>
            </a:r>
            <a:endParaRPr lang="en-US" sz="2600" dirty="0"/>
          </a:p>
        </p:txBody>
      </p:sp>
      <p:sp>
        <p:nvSpPr>
          <p:cNvPr id="3" name="Tarjeta ODS 3: Salud y bienestar"/>
          <p:cNvSpPr/>
          <p:nvPr/>
        </p:nvSpPr>
        <p:spPr>
          <a:xfrm>
            <a:off x="548640" y="1508760"/>
            <a:ext cx="5362956" cy="2103120"/>
          </a:xfrm>
          <a:prstGeom prst="roundRect">
            <a:avLst>
              <a:gd name="adj" fmla="val 5217"/>
            </a:avLst>
          </a:prstGeom>
          <a:solidFill>
            <a:srgbClr val="FBEDE4"/>
          </a:solidFill>
          <a:ln/>
        </p:spPr>
      </p:sp>
      <p:sp>
        <p:nvSpPr>
          <p:cNvPr id="4" name="Ícono ODS 3: Salud y bienestar círculo"/>
          <p:cNvSpPr/>
          <p:nvPr/>
        </p:nvSpPr>
        <p:spPr>
          <a:xfrm>
            <a:off x="868680" y="1783080"/>
            <a:ext cx="640080" cy="640080"/>
          </a:xfrm>
          <a:prstGeom prst="ellipse">
            <a:avLst/>
          </a:prstGeom>
          <a:solidFill>
            <a:srgbClr val="D9622B"/>
          </a:solidFill>
          <a:ln/>
        </p:spPr>
      </p:sp>
      <p:pic>
        <p:nvPicPr>
          <p:cNvPr id="5" name="Ícono ODS 3: Salud y bienestar" descr="preencoded.png">    </p:cNvPr>
          <p:cNvPicPr>
            <a:picLocks noChangeAspect="1"/>
          </p:cNvPicPr>
          <p:nvPr/>
        </p:nvPicPr>
        <p:blipFill>
          <a:blip r:embed="rId1"/>
          <a:stretch>
            <a:fillRect/>
          </a:stretch>
        </p:blipFill>
        <p:spPr>
          <a:xfrm>
            <a:off x="1015898" y="1930298"/>
            <a:ext cx="345643" cy="345643"/>
          </a:xfrm>
          <a:prstGeom prst="rect">
            <a:avLst/>
          </a:prstGeom>
        </p:spPr>
      </p:pic>
      <p:sp>
        <p:nvSpPr>
          <p:cNvPr id="6" name="Text 3"/>
          <p:cNvSpPr txBox="1"/>
          <p:nvPr/>
        </p:nvSpPr>
        <p:spPr>
          <a:xfrm>
            <a:off x="1691640" y="1783080"/>
            <a:ext cx="3945636" cy="640080"/>
          </a:xfrm>
          <a:prstGeom prst="rect">
            <a:avLst/>
          </a:prstGeom>
          <a:noFill/>
          <a:ln/>
        </p:spPr>
        <p:txBody>
          <a:bodyPr wrap="square" lIns="0" tIns="0" rIns="0" bIns="0" rtlCol="0" anchor="ctr"/>
          <a:lstStyle/>
          <a:p>
            <a:pPr indent="0" marL="0">
              <a:buNone/>
            </a:pPr>
            <a:r>
              <a:rPr lang="en-US" sz="1900" b="1" dirty="0">
                <a:solidFill>
                  <a:srgbClr val="D9622B"/>
                </a:solidFill>
                <a:latin typeface="Cambria" pitchFamily="34" charset="0"/>
                <a:ea typeface="Cambria" pitchFamily="34" charset="-122"/>
                <a:cs typeface="Cambria" pitchFamily="34" charset="-120"/>
              </a:rPr>
              <a:t>ODS 3: Salud y bienestar</a:t>
            </a:r>
            <a:endParaRPr lang="en-US" sz="1900" dirty="0"/>
          </a:p>
        </p:txBody>
      </p:sp>
      <p:sp>
        <p:nvSpPr>
          <p:cNvPr id="7" name="Text 4"/>
          <p:cNvSpPr txBox="1"/>
          <p:nvPr/>
        </p:nvSpPr>
        <p:spPr>
          <a:xfrm>
            <a:off x="868680" y="2560320"/>
            <a:ext cx="4722876" cy="914400"/>
          </a:xfrm>
          <a:prstGeom prst="rect">
            <a:avLst/>
          </a:prstGeom>
          <a:noFill/>
          <a:ln/>
        </p:spPr>
        <p:txBody>
          <a:bodyPr wrap="square" lIns="0" tIns="0" rIns="0" bIns="0" rtlCol="0" anchor="t"/>
          <a:lstStyle/>
          <a:p>
            <a:pPr indent="0" marL="0">
              <a:buNone/>
            </a:pPr>
            <a:r>
              <a:rPr lang="en-US" sz="1600" dirty="0">
                <a:solidFill>
                  <a:srgbClr val="3B444C"/>
                </a:solidFill>
                <a:latin typeface="Calibri" pitchFamily="34" charset="0"/>
                <a:ea typeface="Calibri" pitchFamily="34" charset="-122"/>
                <a:cs typeface="Calibri" pitchFamily="34" charset="-120"/>
              </a:rPr>
              <a:t>Meta 3.4: 19 de 20 con estrés y solo 1 con apoyo psicológico. Alcohol (3.5) y tabaco (3.a) como conductas asociadas.</a:t>
            </a:r>
            <a:endParaRPr lang="en-US" sz="1600" dirty="0"/>
          </a:p>
        </p:txBody>
      </p:sp>
      <p:sp>
        <p:nvSpPr>
          <p:cNvPr id="8" name="Tarjeta ODS 4: Educación de calidad"/>
          <p:cNvSpPr/>
          <p:nvPr/>
        </p:nvSpPr>
        <p:spPr>
          <a:xfrm>
            <a:off x="6277356" y="1508760"/>
            <a:ext cx="5362956" cy="2103120"/>
          </a:xfrm>
          <a:prstGeom prst="roundRect">
            <a:avLst>
              <a:gd name="adj" fmla="val 5217"/>
            </a:avLst>
          </a:prstGeom>
          <a:solidFill>
            <a:srgbClr val="F3F4F4"/>
          </a:solidFill>
          <a:ln/>
        </p:spPr>
      </p:sp>
      <p:sp>
        <p:nvSpPr>
          <p:cNvPr id="9" name="Ícono ODS 4: Educación de calidad círculo"/>
          <p:cNvSpPr/>
          <p:nvPr/>
        </p:nvSpPr>
        <p:spPr>
          <a:xfrm>
            <a:off x="6597396" y="1783080"/>
            <a:ext cx="640080" cy="640080"/>
          </a:xfrm>
          <a:prstGeom prst="ellipse">
            <a:avLst/>
          </a:prstGeom>
          <a:solidFill>
            <a:srgbClr val="2E6E73"/>
          </a:solidFill>
          <a:ln/>
        </p:spPr>
      </p:sp>
      <p:pic>
        <p:nvPicPr>
          <p:cNvPr id="10" name="Ícono ODS 4: Educación de calidad" descr="preencoded.png">    </p:cNvPr>
          <p:cNvPicPr>
            <a:picLocks noChangeAspect="1"/>
          </p:cNvPicPr>
          <p:nvPr/>
        </p:nvPicPr>
        <p:blipFill>
          <a:blip r:embed="rId2"/>
          <a:stretch>
            <a:fillRect/>
          </a:stretch>
        </p:blipFill>
        <p:spPr>
          <a:xfrm>
            <a:off x="6744614" y="1930298"/>
            <a:ext cx="345643" cy="345643"/>
          </a:xfrm>
          <a:prstGeom prst="rect">
            <a:avLst/>
          </a:prstGeom>
        </p:spPr>
      </p:pic>
      <p:sp>
        <p:nvSpPr>
          <p:cNvPr id="11" name="Text 7"/>
          <p:cNvSpPr txBox="1"/>
          <p:nvPr/>
        </p:nvSpPr>
        <p:spPr>
          <a:xfrm>
            <a:off x="7420356" y="1783080"/>
            <a:ext cx="3945636" cy="640080"/>
          </a:xfrm>
          <a:prstGeom prst="rect">
            <a:avLst/>
          </a:prstGeom>
          <a:noFill/>
          <a:ln/>
        </p:spPr>
        <p:txBody>
          <a:bodyPr wrap="square" lIns="0" tIns="0" rIns="0" bIns="0" rtlCol="0" anchor="ctr"/>
          <a:lstStyle/>
          <a:p>
            <a:pPr indent="0" marL="0">
              <a:buNone/>
            </a:pPr>
            <a:r>
              <a:rPr lang="en-US" sz="1900" b="1" dirty="0">
                <a:solidFill>
                  <a:srgbClr val="24313A"/>
                </a:solidFill>
                <a:latin typeface="Cambria" pitchFamily="34" charset="0"/>
                <a:ea typeface="Cambria" pitchFamily="34" charset="-122"/>
                <a:cs typeface="Cambria" pitchFamily="34" charset="-120"/>
              </a:rPr>
              <a:t>ODS 4: Educación de calidad</a:t>
            </a:r>
            <a:endParaRPr lang="en-US" sz="1900" dirty="0"/>
          </a:p>
        </p:txBody>
      </p:sp>
      <p:sp>
        <p:nvSpPr>
          <p:cNvPr id="12" name="Text 8"/>
          <p:cNvSpPr txBox="1"/>
          <p:nvPr/>
        </p:nvSpPr>
        <p:spPr>
          <a:xfrm>
            <a:off x="6597396" y="2560320"/>
            <a:ext cx="4722876" cy="914400"/>
          </a:xfrm>
          <a:prstGeom prst="rect">
            <a:avLst/>
          </a:prstGeom>
          <a:noFill/>
          <a:ln/>
        </p:spPr>
        <p:txBody>
          <a:bodyPr wrap="square" lIns="0" tIns="0" rIns="0" bIns="0" rtlCol="0" anchor="t"/>
          <a:lstStyle/>
          <a:p>
            <a:pPr indent="0" marL="0">
              <a:buNone/>
            </a:pPr>
            <a:r>
              <a:rPr lang="en-US" sz="1600" dirty="0">
                <a:solidFill>
                  <a:srgbClr val="3B444C"/>
                </a:solidFill>
                <a:latin typeface="Calibri" pitchFamily="34" charset="0"/>
                <a:ea typeface="Calibri" pitchFamily="34" charset="-122"/>
                <a:cs typeface="Calibri" pitchFamily="34" charset="-120"/>
              </a:rPr>
              <a:t>La universidad es la principal fuente de estrés. Una educación de calidad también cuida la salud mental.</a:t>
            </a:r>
            <a:endParaRPr lang="en-US" sz="1600" dirty="0"/>
          </a:p>
        </p:txBody>
      </p:sp>
      <p:sp>
        <p:nvSpPr>
          <p:cNvPr id="13" name="Tarjeta ODS 8: Trabajo decente"/>
          <p:cNvSpPr/>
          <p:nvPr/>
        </p:nvSpPr>
        <p:spPr>
          <a:xfrm>
            <a:off x="548640" y="3886200"/>
            <a:ext cx="5362956" cy="2103120"/>
          </a:xfrm>
          <a:prstGeom prst="roundRect">
            <a:avLst>
              <a:gd name="adj" fmla="val 5217"/>
            </a:avLst>
          </a:prstGeom>
          <a:solidFill>
            <a:srgbClr val="F3F4F4"/>
          </a:solidFill>
          <a:ln/>
        </p:spPr>
      </p:sp>
      <p:sp>
        <p:nvSpPr>
          <p:cNvPr id="14" name="Ícono ODS 8: Trabajo decente círculo"/>
          <p:cNvSpPr/>
          <p:nvPr/>
        </p:nvSpPr>
        <p:spPr>
          <a:xfrm>
            <a:off x="868680" y="4160520"/>
            <a:ext cx="640080" cy="640080"/>
          </a:xfrm>
          <a:prstGeom prst="ellipse">
            <a:avLst/>
          </a:prstGeom>
          <a:solidFill>
            <a:srgbClr val="2E6E73"/>
          </a:solidFill>
          <a:ln/>
        </p:spPr>
      </p:sp>
      <p:pic>
        <p:nvPicPr>
          <p:cNvPr id="15" name="Ícono ODS 8: Trabajo decente" descr="preencoded.png">    </p:cNvPr>
          <p:cNvPicPr>
            <a:picLocks noChangeAspect="1"/>
          </p:cNvPicPr>
          <p:nvPr/>
        </p:nvPicPr>
        <p:blipFill>
          <a:blip r:embed="rId3"/>
          <a:stretch>
            <a:fillRect/>
          </a:stretch>
        </p:blipFill>
        <p:spPr>
          <a:xfrm>
            <a:off x="1015898" y="4307738"/>
            <a:ext cx="345643" cy="345643"/>
          </a:xfrm>
          <a:prstGeom prst="rect">
            <a:avLst/>
          </a:prstGeom>
        </p:spPr>
      </p:pic>
      <p:sp>
        <p:nvSpPr>
          <p:cNvPr id="16" name="Text 11"/>
          <p:cNvSpPr txBox="1"/>
          <p:nvPr/>
        </p:nvSpPr>
        <p:spPr>
          <a:xfrm>
            <a:off x="1691640" y="4160520"/>
            <a:ext cx="3945636" cy="640080"/>
          </a:xfrm>
          <a:prstGeom prst="rect">
            <a:avLst/>
          </a:prstGeom>
          <a:noFill/>
          <a:ln/>
        </p:spPr>
        <p:txBody>
          <a:bodyPr wrap="square" lIns="0" tIns="0" rIns="0" bIns="0" rtlCol="0" anchor="ctr"/>
          <a:lstStyle/>
          <a:p>
            <a:pPr indent="0" marL="0">
              <a:buNone/>
            </a:pPr>
            <a:r>
              <a:rPr lang="en-US" sz="1900" b="1" dirty="0">
                <a:solidFill>
                  <a:srgbClr val="24313A"/>
                </a:solidFill>
                <a:latin typeface="Cambria" pitchFamily="34" charset="0"/>
                <a:ea typeface="Cambria" pitchFamily="34" charset="-122"/>
                <a:cs typeface="Cambria" pitchFamily="34" charset="-120"/>
              </a:rPr>
              <a:t>ODS 8: Trabajo decente</a:t>
            </a:r>
            <a:endParaRPr lang="en-US" sz="1900" dirty="0"/>
          </a:p>
        </p:txBody>
      </p:sp>
      <p:sp>
        <p:nvSpPr>
          <p:cNvPr id="17" name="Text 12"/>
          <p:cNvSpPr txBox="1"/>
          <p:nvPr/>
        </p:nvSpPr>
        <p:spPr>
          <a:xfrm>
            <a:off x="868680" y="4937760"/>
            <a:ext cx="4722876" cy="914400"/>
          </a:xfrm>
          <a:prstGeom prst="rect">
            <a:avLst/>
          </a:prstGeom>
          <a:noFill/>
          <a:ln/>
        </p:spPr>
        <p:txBody>
          <a:bodyPr wrap="square" lIns="0" tIns="0" rIns="0" bIns="0" rtlCol="0" anchor="t"/>
          <a:lstStyle/>
          <a:p>
            <a:pPr indent="0" marL="0">
              <a:buNone/>
            </a:pPr>
            <a:r>
              <a:rPr lang="en-US" sz="1600" dirty="0">
                <a:solidFill>
                  <a:srgbClr val="3B444C"/>
                </a:solidFill>
                <a:latin typeface="Calibri" pitchFamily="34" charset="0"/>
                <a:ea typeface="Calibri" pitchFamily="34" charset="-122"/>
                <a:cs typeface="Calibri" pitchFamily="34" charset="-120"/>
              </a:rPr>
              <a:t>11 practicantes. Se registran maltrato verbal, trato diferenciado, falta de capacitación y presión por cuotas.</a:t>
            </a:r>
            <a:endParaRPr lang="en-US" sz="1600" dirty="0"/>
          </a:p>
        </p:txBody>
      </p:sp>
      <p:sp>
        <p:nvSpPr>
          <p:cNvPr id="18" name="Tarjeta ODS 5, 10 y 11"/>
          <p:cNvSpPr/>
          <p:nvPr/>
        </p:nvSpPr>
        <p:spPr>
          <a:xfrm>
            <a:off x="6277356" y="3886200"/>
            <a:ext cx="5362956" cy="2103120"/>
          </a:xfrm>
          <a:prstGeom prst="roundRect">
            <a:avLst>
              <a:gd name="adj" fmla="val 5217"/>
            </a:avLst>
          </a:prstGeom>
          <a:solidFill>
            <a:srgbClr val="F3F4F4"/>
          </a:solidFill>
          <a:ln/>
        </p:spPr>
      </p:sp>
      <p:sp>
        <p:nvSpPr>
          <p:cNvPr id="19" name="Ícono ODS 5, 10 y 11 círculo"/>
          <p:cNvSpPr/>
          <p:nvPr/>
        </p:nvSpPr>
        <p:spPr>
          <a:xfrm>
            <a:off x="6597396" y="4160520"/>
            <a:ext cx="640080" cy="640080"/>
          </a:xfrm>
          <a:prstGeom prst="ellipse">
            <a:avLst/>
          </a:prstGeom>
          <a:solidFill>
            <a:srgbClr val="2E6E73"/>
          </a:solidFill>
          <a:ln/>
        </p:spPr>
      </p:sp>
      <p:pic>
        <p:nvPicPr>
          <p:cNvPr id="20" name="Ícono ODS 5, 10 y 11" descr="preencoded.png">    </p:cNvPr>
          <p:cNvPicPr>
            <a:picLocks noChangeAspect="1"/>
          </p:cNvPicPr>
          <p:nvPr/>
        </p:nvPicPr>
        <p:blipFill>
          <a:blip r:embed="rId4"/>
          <a:stretch>
            <a:fillRect/>
          </a:stretch>
        </p:blipFill>
        <p:spPr>
          <a:xfrm>
            <a:off x="6744614" y="4307738"/>
            <a:ext cx="345643" cy="345643"/>
          </a:xfrm>
          <a:prstGeom prst="rect">
            <a:avLst/>
          </a:prstGeom>
        </p:spPr>
      </p:pic>
      <p:sp>
        <p:nvSpPr>
          <p:cNvPr id="21" name="Text 15"/>
          <p:cNvSpPr txBox="1"/>
          <p:nvPr/>
        </p:nvSpPr>
        <p:spPr>
          <a:xfrm>
            <a:off x="7420356" y="4160520"/>
            <a:ext cx="3945636" cy="640080"/>
          </a:xfrm>
          <a:prstGeom prst="rect">
            <a:avLst/>
          </a:prstGeom>
          <a:noFill/>
          <a:ln/>
        </p:spPr>
        <p:txBody>
          <a:bodyPr wrap="square" lIns="0" tIns="0" rIns="0" bIns="0" rtlCol="0" anchor="ctr"/>
          <a:lstStyle/>
          <a:p>
            <a:pPr indent="0" marL="0">
              <a:buNone/>
            </a:pPr>
            <a:r>
              <a:rPr lang="en-US" sz="1900" b="1" dirty="0">
                <a:solidFill>
                  <a:srgbClr val="24313A"/>
                </a:solidFill>
                <a:latin typeface="Cambria" pitchFamily="34" charset="0"/>
                <a:ea typeface="Cambria" pitchFamily="34" charset="-122"/>
                <a:cs typeface="Cambria" pitchFamily="34" charset="-120"/>
              </a:rPr>
              <a:t>ODS 5, 10 y 11</a:t>
            </a:r>
            <a:endParaRPr lang="en-US" sz="1900" dirty="0"/>
          </a:p>
        </p:txBody>
      </p:sp>
      <p:sp>
        <p:nvSpPr>
          <p:cNvPr id="22" name="Text 16"/>
          <p:cNvSpPr txBox="1"/>
          <p:nvPr/>
        </p:nvSpPr>
        <p:spPr>
          <a:xfrm>
            <a:off x="6597396" y="4937760"/>
            <a:ext cx="4722876" cy="914400"/>
          </a:xfrm>
          <a:prstGeom prst="rect">
            <a:avLst/>
          </a:prstGeom>
          <a:noFill/>
          <a:ln/>
        </p:spPr>
        <p:txBody>
          <a:bodyPr wrap="square" lIns="0" tIns="0" rIns="0" bIns="0" rtlCol="0" anchor="t"/>
          <a:lstStyle/>
          <a:p>
            <a:pPr indent="0" marL="0">
              <a:buNone/>
            </a:pPr>
            <a:r>
              <a:rPr lang="en-US" sz="1600" dirty="0">
                <a:solidFill>
                  <a:srgbClr val="3B444C"/>
                </a:solidFill>
                <a:latin typeface="Calibri" pitchFamily="34" charset="0"/>
                <a:ea typeface="Calibri" pitchFamily="34" charset="-122"/>
                <a:cs typeface="Calibri" pitchFamily="34" charset="-120"/>
              </a:rPr>
              <a:t>Temor a salir sola por ser mujer, inseguridad en la zona y brecha de 0.1387 entre San Isidro y San Juan de Lurigancho.</a:t>
            </a:r>
            <a:endParaRPr lang="en-US" sz="1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Conclusiones</a:t>
            </a:r>
            <a:endParaRPr lang="en-US" sz="2600" dirty="0"/>
          </a:p>
        </p:txBody>
      </p:sp>
      <p:sp>
        <p:nvSpPr>
          <p:cNvPr id="3" name="Bloque 1"/>
          <p:cNvSpPr/>
          <p:nvPr/>
        </p:nvSpPr>
        <p:spPr>
          <a:xfrm>
            <a:off x="548640" y="1508760"/>
            <a:ext cx="5362956" cy="2103120"/>
          </a:xfrm>
          <a:prstGeom prst="roundRect">
            <a:avLst>
              <a:gd name="adj" fmla="val 5217"/>
            </a:avLst>
          </a:prstGeom>
          <a:solidFill>
            <a:srgbClr val="33434E"/>
          </a:solidFill>
          <a:ln/>
        </p:spPr>
      </p:sp>
      <p:sp>
        <p:nvSpPr>
          <p:cNvPr id="4" name="Text 2"/>
          <p:cNvSpPr txBox="1"/>
          <p:nvPr/>
        </p:nvSpPr>
        <p:spPr>
          <a:xfrm>
            <a:off x="868680" y="1783080"/>
            <a:ext cx="1097280" cy="1554480"/>
          </a:xfrm>
          <a:prstGeom prst="rect">
            <a:avLst/>
          </a:prstGeom>
          <a:noFill/>
          <a:ln/>
        </p:spPr>
        <p:txBody>
          <a:bodyPr wrap="square" lIns="0" tIns="0" rIns="0" bIns="0" rtlCol="0" anchor="ctr"/>
          <a:lstStyle/>
          <a:p>
            <a:pPr indent="0" marL="0">
              <a:buNone/>
            </a:pPr>
            <a:r>
              <a:rPr lang="en-US" sz="4800" b="1" dirty="0">
                <a:solidFill>
                  <a:srgbClr val="F2A57A"/>
                </a:solidFill>
                <a:latin typeface="Cambria" pitchFamily="34" charset="0"/>
                <a:ea typeface="Cambria" pitchFamily="34" charset="-122"/>
                <a:cs typeface="Cambria" pitchFamily="34" charset="-120"/>
              </a:rPr>
              <a:t>01</a:t>
            </a:r>
            <a:endParaRPr lang="en-US" sz="4800" dirty="0"/>
          </a:p>
        </p:txBody>
      </p:sp>
      <p:sp>
        <p:nvSpPr>
          <p:cNvPr id="5" name="Text 3"/>
          <p:cNvSpPr txBox="1"/>
          <p:nvPr/>
        </p:nvSpPr>
        <p:spPr>
          <a:xfrm>
            <a:off x="2057400" y="1783080"/>
            <a:ext cx="3579876" cy="1554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El estrés es la variable predominante (19 de 20). Viene de la universidad y de las prácticas, no de carencias materiales.</a:t>
            </a:r>
            <a:endParaRPr lang="en-US" sz="1600" dirty="0"/>
          </a:p>
        </p:txBody>
      </p:sp>
      <p:sp>
        <p:nvSpPr>
          <p:cNvPr id="6" name="Bloque 2"/>
          <p:cNvSpPr/>
          <p:nvPr/>
        </p:nvSpPr>
        <p:spPr>
          <a:xfrm>
            <a:off x="6277356" y="1508760"/>
            <a:ext cx="5362956" cy="2103120"/>
          </a:xfrm>
          <a:prstGeom prst="roundRect">
            <a:avLst>
              <a:gd name="adj" fmla="val 5217"/>
            </a:avLst>
          </a:prstGeom>
          <a:solidFill>
            <a:srgbClr val="33434E"/>
          </a:solidFill>
          <a:ln/>
        </p:spPr>
      </p:sp>
      <p:sp>
        <p:nvSpPr>
          <p:cNvPr id="7" name="Text 5"/>
          <p:cNvSpPr txBox="1"/>
          <p:nvPr/>
        </p:nvSpPr>
        <p:spPr>
          <a:xfrm>
            <a:off x="6597396" y="1783080"/>
            <a:ext cx="1097280" cy="1554480"/>
          </a:xfrm>
          <a:prstGeom prst="rect">
            <a:avLst/>
          </a:prstGeom>
          <a:noFill/>
          <a:ln/>
        </p:spPr>
        <p:txBody>
          <a:bodyPr wrap="square" lIns="0" tIns="0" rIns="0" bIns="0" rtlCol="0" anchor="ctr"/>
          <a:lstStyle/>
          <a:p>
            <a:pPr indent="0" marL="0">
              <a:buNone/>
            </a:pPr>
            <a:r>
              <a:rPr lang="en-US" sz="4800" b="1" dirty="0">
                <a:solidFill>
                  <a:srgbClr val="F2A57A"/>
                </a:solidFill>
                <a:latin typeface="Cambria" pitchFamily="34" charset="0"/>
                <a:ea typeface="Cambria" pitchFamily="34" charset="-122"/>
                <a:cs typeface="Cambria" pitchFamily="34" charset="-120"/>
              </a:rPr>
              <a:t>02</a:t>
            </a:r>
            <a:endParaRPr lang="en-US" sz="4800" dirty="0"/>
          </a:p>
        </p:txBody>
      </p:sp>
      <p:sp>
        <p:nvSpPr>
          <p:cNvPr id="8" name="Text 6"/>
          <p:cNvSpPr txBox="1"/>
          <p:nvPr/>
        </p:nvSpPr>
        <p:spPr>
          <a:xfrm>
            <a:off x="7786116" y="1783080"/>
            <a:ext cx="3579876" cy="1554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En mujeres se expresa en el sueño, la alimentación, el cuerpo y el ánimo. En varones, en la conducta: irritabilidad, aislamiento o autoexigencia.</a:t>
            </a:r>
            <a:endParaRPr lang="en-US" sz="1600" dirty="0"/>
          </a:p>
        </p:txBody>
      </p:sp>
      <p:sp>
        <p:nvSpPr>
          <p:cNvPr id="9" name="Bloque 3"/>
          <p:cNvSpPr/>
          <p:nvPr/>
        </p:nvSpPr>
        <p:spPr>
          <a:xfrm>
            <a:off x="548640" y="3886200"/>
            <a:ext cx="5362956" cy="2103120"/>
          </a:xfrm>
          <a:prstGeom prst="roundRect">
            <a:avLst>
              <a:gd name="adj" fmla="val 5217"/>
            </a:avLst>
          </a:prstGeom>
          <a:solidFill>
            <a:srgbClr val="33434E"/>
          </a:solidFill>
          <a:ln/>
        </p:spPr>
      </p:sp>
      <p:sp>
        <p:nvSpPr>
          <p:cNvPr id="10" name="Text 8"/>
          <p:cNvSpPr txBox="1"/>
          <p:nvPr/>
        </p:nvSpPr>
        <p:spPr>
          <a:xfrm>
            <a:off x="868680" y="4160520"/>
            <a:ext cx="1097280" cy="1554480"/>
          </a:xfrm>
          <a:prstGeom prst="rect">
            <a:avLst/>
          </a:prstGeom>
          <a:noFill/>
          <a:ln/>
        </p:spPr>
        <p:txBody>
          <a:bodyPr wrap="square" lIns="0" tIns="0" rIns="0" bIns="0" rtlCol="0" anchor="ctr"/>
          <a:lstStyle/>
          <a:p>
            <a:pPr indent="0" marL="0">
              <a:buNone/>
            </a:pPr>
            <a:r>
              <a:rPr lang="en-US" sz="4800" b="1" dirty="0">
                <a:solidFill>
                  <a:srgbClr val="F2A57A"/>
                </a:solidFill>
                <a:latin typeface="Cambria" pitchFamily="34" charset="0"/>
                <a:ea typeface="Cambria" pitchFamily="34" charset="-122"/>
                <a:cs typeface="Cambria" pitchFamily="34" charset="-120"/>
              </a:rPr>
              <a:t>03</a:t>
            </a:r>
            <a:endParaRPr lang="en-US" sz="4800" dirty="0"/>
          </a:p>
        </p:txBody>
      </p:sp>
      <p:sp>
        <p:nvSpPr>
          <p:cNvPr id="11" name="Text 9"/>
          <p:cNvSpPr txBox="1"/>
          <p:nvPr/>
        </p:nvSpPr>
        <p:spPr>
          <a:xfrm>
            <a:off x="2057400" y="4160520"/>
            <a:ext cx="3579876" cy="1554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 autoexigencia lo aumenta. Los amigos y el deporte lo alivian, y el alcohol y el poco sueño lo mantienen.</a:t>
            </a:r>
            <a:endParaRPr lang="en-US" sz="1600" dirty="0"/>
          </a:p>
        </p:txBody>
      </p:sp>
      <p:sp>
        <p:nvSpPr>
          <p:cNvPr id="12" name="Bloque 4"/>
          <p:cNvSpPr/>
          <p:nvPr/>
        </p:nvSpPr>
        <p:spPr>
          <a:xfrm>
            <a:off x="6277356" y="3886200"/>
            <a:ext cx="5362956" cy="2103120"/>
          </a:xfrm>
          <a:prstGeom prst="roundRect">
            <a:avLst>
              <a:gd name="adj" fmla="val 5217"/>
            </a:avLst>
          </a:prstGeom>
          <a:solidFill>
            <a:srgbClr val="33434E"/>
          </a:solidFill>
          <a:ln/>
        </p:spPr>
      </p:sp>
      <p:sp>
        <p:nvSpPr>
          <p:cNvPr id="13" name="Text 11"/>
          <p:cNvSpPr txBox="1"/>
          <p:nvPr/>
        </p:nvSpPr>
        <p:spPr>
          <a:xfrm>
            <a:off x="6597396" y="4160520"/>
            <a:ext cx="1097280" cy="1554480"/>
          </a:xfrm>
          <a:prstGeom prst="rect">
            <a:avLst/>
          </a:prstGeom>
          <a:noFill/>
          <a:ln/>
        </p:spPr>
        <p:txBody>
          <a:bodyPr wrap="square" lIns="0" tIns="0" rIns="0" bIns="0" rtlCol="0" anchor="ctr"/>
          <a:lstStyle/>
          <a:p>
            <a:pPr indent="0" marL="0">
              <a:buNone/>
            </a:pPr>
            <a:r>
              <a:rPr lang="en-US" sz="4800" b="1" dirty="0">
                <a:solidFill>
                  <a:srgbClr val="F2A57A"/>
                </a:solidFill>
                <a:latin typeface="Cambria" pitchFamily="34" charset="0"/>
                <a:ea typeface="Cambria" pitchFamily="34" charset="-122"/>
                <a:cs typeface="Cambria" pitchFamily="34" charset="-120"/>
              </a:rPr>
              <a:t>04</a:t>
            </a:r>
            <a:endParaRPr lang="en-US" sz="4800" dirty="0"/>
          </a:p>
        </p:txBody>
      </p:sp>
      <p:sp>
        <p:nvSpPr>
          <p:cNvPr id="14" name="Text 12"/>
          <p:cNvSpPr txBox="1"/>
          <p:nvPr/>
        </p:nvSpPr>
        <p:spPr>
          <a:xfrm>
            <a:off x="7786116" y="4160520"/>
            <a:ext cx="3579876" cy="1554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El IDH no refleja el estrés. Se vincula con los ODS 3, 4 y 8. Son 20 casos de autorreporte y no se pueden generalizar.</a:t>
            </a:r>
            <a:endParaRPr lang="en-US" sz="16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9D1D3"/>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31520"/>
          </a:xfrm>
          <a:prstGeom prst="rect">
            <a:avLst/>
          </a:prstGeom>
          <a:noFill/>
          <a:ln/>
        </p:spPr>
        <p:txBody>
          <a:bodyPr wrap="square" lIns="0" tIns="0" rIns="0" bIns="0" rtlCol="0" anchor="ctr"/>
          <a:lstStyle/>
          <a:p>
            <a:pPr algn="l" indent="0" marL="0">
              <a:buNone/>
            </a:pPr>
            <a:r>
              <a:rPr lang="en-US" sz="2600" b="1" dirty="0">
                <a:solidFill>
                  <a:srgbClr val="24313A"/>
                </a:solidFill>
                <a:latin typeface="Cambria" pitchFamily="34" charset="0"/>
                <a:ea typeface="Cambria" pitchFamily="34" charset="-122"/>
                <a:cs typeface="Cambria" pitchFamily="34" charset="-120"/>
              </a:rPr>
              <a:t>Referencias</a:t>
            </a:r>
            <a:endParaRPr lang="en-US" sz="2600" dirty="0"/>
          </a:p>
        </p:txBody>
      </p:sp>
      <p:sp>
        <p:nvSpPr>
          <p:cNvPr id="3" name="Referencias columna 1"/>
          <p:cNvSpPr txBox="1"/>
          <p:nvPr/>
        </p:nvSpPr>
        <p:spPr>
          <a:xfrm>
            <a:off x="548640" y="1508760"/>
            <a:ext cx="5362956" cy="4434840"/>
          </a:xfrm>
          <a:prstGeom prst="rect">
            <a:avLst/>
          </a:prstGeom>
          <a:noFill/>
          <a:ln/>
        </p:spPr>
        <p:txBody>
          <a:bodyPr wrap="square" lIns="0" tIns="0" rIns="0" bIns="0" rtlCol="0" anchor="t"/>
          <a:lstStyle/>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Barbayannis, G., et al. (2022). Academic stress and mental well-being in college students. </a:t>
            </a:r>
            <a:r>
              <a:rPr lang="en-US" sz="1200" i="1" dirty="0">
                <a:solidFill>
                  <a:srgbClr val="3B444C"/>
                </a:solidFill>
                <a:latin typeface="Calibri" pitchFamily="34" charset="0"/>
                <a:ea typeface="Calibri" pitchFamily="34" charset="-122"/>
                <a:cs typeface="Calibri" pitchFamily="34" charset="-120"/>
              </a:rPr>
              <a:t>Frontiers in Psychology, 13</a:t>
            </a:r>
            <a:r>
              <a:rPr lang="en-US" sz="1200" dirty="0">
                <a:solidFill>
                  <a:srgbClr val="3B444C"/>
                </a:solidFill>
                <a:latin typeface="Calibri" pitchFamily="34" charset="0"/>
                <a:ea typeface="Calibri" pitchFamily="34" charset="-122"/>
                <a:cs typeface="Calibri" pitchFamily="34" charset="-120"/>
              </a:rPr>
              <a:t>, 886344.</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di Biase, G., &amp; Giusino, D. (2026). The psychology of working students: A scoping review. </a:t>
            </a:r>
            <a:r>
              <a:rPr lang="en-US" sz="1200" i="1" dirty="0">
                <a:solidFill>
                  <a:srgbClr val="3B444C"/>
                </a:solidFill>
                <a:latin typeface="Calibri" pitchFamily="34" charset="0"/>
                <a:ea typeface="Calibri" pitchFamily="34" charset="-122"/>
                <a:cs typeface="Calibri" pitchFamily="34" charset="-120"/>
              </a:rPr>
              <a:t>Psychology International, 8</a:t>
            </a:r>
            <a:r>
              <a:rPr lang="en-US" sz="1200" dirty="0">
                <a:solidFill>
                  <a:srgbClr val="3B444C"/>
                </a:solidFill>
                <a:latin typeface="Calibri" pitchFamily="34" charset="0"/>
                <a:ea typeface="Calibri" pitchFamily="34" charset="-122"/>
                <a:cs typeface="Calibri" pitchFamily="34" charset="-120"/>
              </a:rPr>
              <a:t>(1), 11.</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Gardani, M., et al. (2022). Poor sleep, insomnia symptoms and stress in undergraduate students. </a:t>
            </a:r>
            <a:r>
              <a:rPr lang="en-US" sz="1200" i="1" dirty="0">
                <a:solidFill>
                  <a:srgbClr val="3B444C"/>
                </a:solidFill>
                <a:latin typeface="Calibri" pitchFamily="34" charset="0"/>
                <a:ea typeface="Calibri" pitchFamily="34" charset="-122"/>
                <a:cs typeface="Calibri" pitchFamily="34" charset="-120"/>
              </a:rPr>
              <a:t>Sleep Medicine Reviews, 61</a:t>
            </a:r>
            <a:r>
              <a:rPr lang="en-US" sz="1200" dirty="0">
                <a:solidFill>
                  <a:srgbClr val="3B444C"/>
                </a:solidFill>
                <a:latin typeface="Calibri" pitchFamily="34" charset="0"/>
                <a:ea typeface="Calibri" pitchFamily="34" charset="-122"/>
                <a:cs typeface="Calibri" pitchFamily="34" charset="-120"/>
              </a:rPr>
              <a:t>, 101565.</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Kirkbride, J. B., et al. (2024). The social determinants of mental health and disorder. </a:t>
            </a:r>
            <a:r>
              <a:rPr lang="en-US" sz="1200" i="1" dirty="0">
                <a:solidFill>
                  <a:srgbClr val="3B444C"/>
                </a:solidFill>
                <a:latin typeface="Calibri" pitchFamily="34" charset="0"/>
                <a:ea typeface="Calibri" pitchFamily="34" charset="-122"/>
                <a:cs typeface="Calibri" pitchFamily="34" charset="-120"/>
              </a:rPr>
              <a:t>World Psychiatry, 23</a:t>
            </a:r>
            <a:r>
              <a:rPr lang="en-US" sz="1200" dirty="0">
                <a:solidFill>
                  <a:srgbClr val="3B444C"/>
                </a:solidFill>
                <a:latin typeface="Calibri" pitchFamily="34" charset="0"/>
                <a:ea typeface="Calibri" pitchFamily="34" charset="-122"/>
                <a:cs typeface="Calibri" pitchFamily="34" charset="-120"/>
              </a:rPr>
              <a:t>(1), 58–90.</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Lui, P. P., et al. (2022). Linking Big Five personality domains and facets to alcohol (mis)use. </a:t>
            </a:r>
            <a:r>
              <a:rPr lang="en-US" sz="1200" i="1" dirty="0">
                <a:solidFill>
                  <a:srgbClr val="3B444C"/>
                </a:solidFill>
                <a:latin typeface="Calibri" pitchFamily="34" charset="0"/>
                <a:ea typeface="Calibri" pitchFamily="34" charset="-122"/>
                <a:cs typeface="Calibri" pitchFamily="34" charset="-120"/>
              </a:rPr>
              <a:t>Alcohol and Alcoholism, 57</a:t>
            </a:r>
            <a:r>
              <a:rPr lang="en-US" sz="1200" dirty="0">
                <a:solidFill>
                  <a:srgbClr val="3B444C"/>
                </a:solidFill>
                <a:latin typeface="Calibri" pitchFamily="34" charset="0"/>
                <a:ea typeface="Calibri" pitchFamily="34" charset="-122"/>
                <a:cs typeface="Calibri" pitchFamily="34" charset="-120"/>
              </a:rPr>
              <a:t>(1), 58–73.</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Lunn, J., et al. (2023). Perfectionism and symptoms of anxiety, OCD and depression in young people. </a:t>
            </a:r>
            <a:r>
              <a:rPr lang="en-US" sz="1200" i="1" dirty="0">
                <a:solidFill>
                  <a:srgbClr val="3B444C"/>
                </a:solidFill>
                <a:latin typeface="Calibri" pitchFamily="34" charset="0"/>
                <a:ea typeface="Calibri" pitchFamily="34" charset="-122"/>
                <a:cs typeface="Calibri" pitchFamily="34" charset="-120"/>
              </a:rPr>
              <a:t>Cognitive Behaviour Therapy, 52</a:t>
            </a:r>
            <a:r>
              <a:rPr lang="en-US" sz="1200" dirty="0">
                <a:solidFill>
                  <a:srgbClr val="3B444C"/>
                </a:solidFill>
                <a:latin typeface="Calibri" pitchFamily="34" charset="0"/>
                <a:ea typeface="Calibri" pitchFamily="34" charset="-122"/>
                <a:cs typeface="Calibri" pitchFamily="34" charset="-120"/>
              </a:rPr>
              <a:t>(5), 460–487.</a:t>
            </a:r>
            <a:endParaRPr lang="en-US" sz="1200" dirty="0"/>
          </a:p>
        </p:txBody>
      </p:sp>
      <p:sp>
        <p:nvSpPr>
          <p:cNvPr id="4" name="Referencias columna 2"/>
          <p:cNvSpPr txBox="1"/>
          <p:nvPr/>
        </p:nvSpPr>
        <p:spPr>
          <a:xfrm>
            <a:off x="6277356" y="1508760"/>
            <a:ext cx="5362956" cy="4434840"/>
          </a:xfrm>
          <a:prstGeom prst="rect">
            <a:avLst/>
          </a:prstGeom>
          <a:noFill/>
          <a:ln/>
        </p:spPr>
        <p:txBody>
          <a:bodyPr wrap="square" lIns="0" tIns="0" rIns="0" bIns="0" rtlCol="0" anchor="t"/>
          <a:lstStyle/>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Naciones Unidas. (s. f.). </a:t>
            </a:r>
            <a:r>
              <a:rPr lang="en-US" sz="1200" i="1" dirty="0">
                <a:solidFill>
                  <a:srgbClr val="3B444C"/>
                </a:solidFill>
                <a:latin typeface="Calibri" pitchFamily="34" charset="0"/>
                <a:ea typeface="Calibri" pitchFamily="34" charset="-122"/>
                <a:cs typeface="Calibri" pitchFamily="34" charset="-120"/>
              </a:rPr>
              <a:t>Objetivo 3: Garantizar una vida sana y promover el bienestar para todos</a:t>
            </a:r>
            <a:r>
              <a:rPr lang="en-US" sz="1200" dirty="0">
                <a:solidFill>
                  <a:srgbClr val="3B444C"/>
                </a:solidFill>
                <a:latin typeface="Calibri" pitchFamily="34" charset="0"/>
                <a:ea typeface="Calibri" pitchFamily="34" charset="-122"/>
                <a:cs typeface="Calibri" pitchFamily="34" charset="-120"/>
              </a:rPr>
              <a:t>.</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Organización Mundial de la Salud. (2022). </a:t>
            </a:r>
            <a:r>
              <a:rPr lang="en-US" sz="1200" i="1" dirty="0">
                <a:solidFill>
                  <a:srgbClr val="3B444C"/>
                </a:solidFill>
                <a:latin typeface="Calibri" pitchFamily="34" charset="0"/>
                <a:ea typeface="Calibri" pitchFamily="34" charset="-122"/>
                <a:cs typeface="Calibri" pitchFamily="34" charset="-120"/>
              </a:rPr>
              <a:t>Informe mundial sobre salud mental</a:t>
            </a:r>
            <a:r>
              <a:rPr lang="en-US" sz="1200" dirty="0">
                <a:solidFill>
                  <a:srgbClr val="3B444C"/>
                </a:solidFill>
                <a:latin typeface="Calibri" pitchFamily="34" charset="0"/>
                <a:ea typeface="Calibri" pitchFamily="34" charset="-122"/>
                <a:cs typeface="Calibri" pitchFamily="34" charset="-120"/>
              </a:rPr>
              <a:t>.</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PNUD. (2025). </a:t>
            </a:r>
            <a:r>
              <a:rPr lang="en-US" sz="1200" i="1" dirty="0">
                <a:solidFill>
                  <a:srgbClr val="3B444C"/>
                </a:solidFill>
                <a:latin typeface="Calibri" pitchFamily="34" charset="0"/>
                <a:ea typeface="Calibri" pitchFamily="34" charset="-122"/>
                <a:cs typeface="Calibri" pitchFamily="34" charset="-120"/>
              </a:rPr>
              <a:t>Informe sobre Desarrollo Humano Perú 2025</a:t>
            </a:r>
            <a:r>
              <a:rPr lang="en-US" sz="1200" dirty="0">
                <a:solidFill>
                  <a:srgbClr val="3B444C"/>
                </a:solidFill>
                <a:latin typeface="Calibri" pitchFamily="34" charset="0"/>
                <a:ea typeface="Calibri" pitchFamily="34" charset="-122"/>
                <a:cs typeface="Calibri" pitchFamily="34" charset="-120"/>
              </a:rPr>
              <a:t>.</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Singh, B., et al. (2023). Physical activity interventions for depression, anxiety and distress. </a:t>
            </a:r>
            <a:r>
              <a:rPr lang="en-US" sz="1200" i="1" dirty="0">
                <a:solidFill>
                  <a:srgbClr val="3B444C"/>
                </a:solidFill>
                <a:latin typeface="Calibri" pitchFamily="34" charset="0"/>
                <a:ea typeface="Calibri" pitchFamily="34" charset="-122"/>
                <a:cs typeface="Calibri" pitchFamily="34" charset="-120"/>
              </a:rPr>
              <a:t>British Journal of Sports Medicine, 57</a:t>
            </a:r>
            <a:r>
              <a:rPr lang="en-US" sz="1200" dirty="0">
                <a:solidFill>
                  <a:srgbClr val="3B444C"/>
                </a:solidFill>
                <a:latin typeface="Calibri" pitchFamily="34" charset="0"/>
                <a:ea typeface="Calibri" pitchFamily="34" charset="-122"/>
                <a:cs typeface="Calibri" pitchFamily="34" charset="-120"/>
              </a:rPr>
              <a:t>(18), 1203–1209.</a:t>
            </a:r>
            <a:endParaRPr lang="en-US" sz="1200" dirty="0"/>
          </a:p>
          <a:p>
            <a:pPr marL="279400" indent="-279400">
              <a:spcAft>
                <a:spcPts val="800"/>
              </a:spcAft>
              <a:buNone/>
            </a:pPr>
            <a:r>
              <a:rPr lang="en-US" sz="1200" dirty="0">
                <a:solidFill>
                  <a:srgbClr val="3B444C"/>
                </a:solidFill>
                <a:latin typeface="Calibri" pitchFamily="34" charset="0"/>
                <a:ea typeface="Calibri" pitchFamily="34" charset="-122"/>
                <a:cs typeface="Calibri" pitchFamily="34" charset="-120"/>
              </a:rPr>
              <a:t>World Health Organization. (2024). </a:t>
            </a:r>
            <a:r>
              <a:rPr lang="en-US" sz="1200" i="1" dirty="0">
                <a:solidFill>
                  <a:srgbClr val="3B444C"/>
                </a:solidFill>
                <a:latin typeface="Calibri" pitchFamily="34" charset="0"/>
                <a:ea typeface="Calibri" pitchFamily="34" charset="-122"/>
                <a:cs typeface="Calibri" pitchFamily="34" charset="-120"/>
              </a:rPr>
              <a:t>Global status report on alcohol and health and treatment of substance use disorders</a:t>
            </a:r>
            <a:r>
              <a:rPr lang="en-US" sz="1200" dirty="0">
                <a:solidFill>
                  <a:srgbClr val="3B444C"/>
                </a:solidFill>
                <a:latin typeface="Calibri" pitchFamily="34" charset="0"/>
                <a:ea typeface="Calibri" pitchFamily="34" charset="-122"/>
                <a:cs typeface="Calibri" pitchFamily="34" charset="-120"/>
              </a:rPr>
              <a:t>.</a:t>
            </a:r>
            <a:endParaRPr lang="en-US" sz="1200" dirty="0"/>
          </a:p>
        </p:txBody>
      </p:sp>
      <p:sp>
        <p:nvSpPr>
          <p:cNvPr id="25" name="Slide Number Placeholder 0"/>
          <p:cNvSpPr>
            <a:spLocks noGrp="1"/>
          </p:cNvSpPr>
          <p:nvPr>
            <p:ph type="sldNum" sz="quarter" idx="4294967295"/>
          </p:nvPr>
        </p:nvSpPr>
        <p:spPr>
          <a:xfrm>
            <a:off x="548640" y="6272784"/>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6B747B"/>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EC2 Semana 8">
      <a:dk1>
        <a:srgbClr val="3B444C"/>
      </a:dk1>
      <a:lt1>
        <a:srgbClr val="FFFFFF"/>
      </a:lt1>
      <a:dk2>
        <a:srgbClr val="24313A"/>
      </a:dk2>
      <a:lt2>
        <a:srgbClr val="F3F4F4"/>
      </a:lt2>
      <a:accent1>
        <a:srgbClr val="D9622B"/>
      </a:accent1>
      <a:accent2>
        <a:srgbClr val="2E6E73"/>
      </a:accent2>
      <a:accent3>
        <a:srgbClr val="F2A57A"/>
      </a:accent3>
      <a:accent4>
        <a:srgbClr val="FBEDE4"/>
      </a:accent4>
      <a:accent5>
        <a:srgbClr val="6B747B"/>
      </a:accent5>
      <a:accent6>
        <a:srgbClr val="33434E"/>
      </a:accent6>
      <a:hlink>
        <a:srgbClr val="2E6E73"/>
      </a:hlink>
      <a:folHlink>
        <a:srgbClr val="6B747B"/>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Determinantes sociales de la salud mental, conductas de riesgo, personalidad y estilos de vida</dc:title>
  <dc:subject>Evaluación Continua 2, Semana 8</dc:subject>
  <dc:creator>Fatima Turner</dc:creator>
  <cp:lastModifiedBy>Fatima Turner</cp:lastModifiedBy>
  <cp:revision>1</cp:revision>
  <dcterms:created xsi:type="dcterms:W3CDTF">2026-10-12T01:46:32Z</dcterms:created>
  <dcterms:modified xsi:type="dcterms:W3CDTF">2026-10-12T01:46:32Z</dcterms:modified>
</cp:coreProperties>
</file>